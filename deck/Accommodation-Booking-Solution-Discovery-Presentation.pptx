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1.png"/><Relationship Id="rId3" Type="http://schemas.openxmlformats.org/officeDocument/2006/relationships/image" Target="../media/image-29-1.png"/><Relationship Id="rId4" Type="http://schemas.openxmlformats.org/officeDocument/2006/relationships/image" Target="../media/image-29-1.png"/><Relationship Id="rId5" Type="http://schemas.openxmlformats.org/officeDocument/2006/relationships/image" Target="../media/image-29-1.png"/><Relationship Id="rId6" Type="http://schemas.openxmlformats.org/officeDocument/2006/relationships/image" Target="../media/image-29-1.png"/><Relationship Id="rId7" Type="http://schemas.openxmlformats.org/officeDocument/2006/relationships/image" Target="../media/image-29-1.png"/><Relationship Id="rId8" Type="http://schemas.openxmlformats.org/officeDocument/2006/relationships/image" Target="../media/image-29-1.png"/><Relationship Id="rId9" Type="http://schemas.openxmlformats.org/officeDocument/2006/relationships/image" Target="../media/image-29-1.png"/><Relationship Id="rId10" Type="http://schemas.openxmlformats.org/officeDocument/2006/relationships/image" Target="../media/image-29-1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1.png"/><Relationship Id="rId3" Type="http://schemas.openxmlformats.org/officeDocument/2006/relationships/image" Target="../media/image-33-1.png"/><Relationship Id="rId4" Type="http://schemas.openxmlformats.org/officeDocument/2006/relationships/image" Target="../media/image-33-1.png"/><Relationship Id="rId5" Type="http://schemas.openxmlformats.org/officeDocument/2006/relationships/image" Target="../media/image-33-1.png"/><Relationship Id="rId6" Type="http://schemas.openxmlformats.org/officeDocument/2006/relationships/image" Target="../media/image-33-1.png"/><Relationship Id="rId7" Type="http://schemas.openxmlformats.org/officeDocument/2006/relationships/image" Target="../media/image-33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1.png"/><Relationship Id="rId3" Type="http://schemas.openxmlformats.org/officeDocument/2006/relationships/image" Target="../media/image-36-1.png"/><Relationship Id="rId4" Type="http://schemas.openxmlformats.org/officeDocument/2006/relationships/image" Target="../media/image-36-1.png"/><Relationship Id="rId5" Type="http://schemas.openxmlformats.org/officeDocument/2006/relationships/image" Target="../media/image-36-1.png"/><Relationship Id="rId6" Type="http://schemas.openxmlformats.org/officeDocument/2006/relationships/image" Target="../media/image-36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379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3797"/>
          </a:solidFill>
          <a:ln/>
        </p:spPr>
      </p:sp>
      <p:sp>
        <p:nvSpPr>
          <p:cNvPr id="3" name="Shape 1"/>
          <p:cNvSpPr/>
          <p:nvPr/>
        </p:nvSpPr>
        <p:spPr>
          <a:xfrm>
            <a:off x="7985455" y="-2011680"/>
            <a:ext cx="5943600" cy="59436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4" name="Shape 2"/>
          <p:cNvSpPr/>
          <p:nvPr/>
        </p:nvSpPr>
        <p:spPr>
          <a:xfrm>
            <a:off x="-2377440" y="4480560"/>
            <a:ext cx="4572000" cy="45720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5486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39348" y="888797"/>
            <a:ext cx="385511" cy="124724"/>
          </a:xfrm>
          <a:prstGeom prst="rect">
            <a:avLst/>
          </a:prstGeom>
          <a:solidFill>
            <a:srgbClr val="2B3797"/>
          </a:solidFill>
          <a:ln/>
        </p:spPr>
      </p:sp>
      <p:sp>
        <p:nvSpPr>
          <p:cNvPr id="7" name="Shape 5"/>
          <p:cNvSpPr/>
          <p:nvPr/>
        </p:nvSpPr>
        <p:spPr>
          <a:xfrm>
            <a:off x="639348" y="849112"/>
            <a:ext cx="385511" cy="51024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8" name="Shape 6"/>
          <p:cNvSpPr/>
          <p:nvPr/>
        </p:nvSpPr>
        <p:spPr>
          <a:xfrm>
            <a:off x="662026" y="707380"/>
            <a:ext cx="124724" cy="141732"/>
          </a:xfrm>
          <a:prstGeom prst="rect">
            <a:avLst/>
          </a:prstGeom>
          <a:solidFill>
            <a:srgbClr val="2B3797"/>
          </a:solidFill>
          <a:ln/>
        </p:spPr>
      </p:sp>
      <p:sp>
        <p:nvSpPr>
          <p:cNvPr id="9" name="Shape 7"/>
          <p:cNvSpPr/>
          <p:nvPr/>
        </p:nvSpPr>
        <p:spPr>
          <a:xfrm>
            <a:off x="832104" y="639348"/>
            <a:ext cx="124724" cy="209763"/>
          </a:xfrm>
          <a:prstGeom prst="rect">
            <a:avLst/>
          </a:prstGeom>
          <a:solidFill>
            <a:srgbClr val="2B3797"/>
          </a:solidFill>
          <a:ln/>
        </p:spPr>
      </p:sp>
      <p:sp>
        <p:nvSpPr>
          <p:cNvPr id="10" name="Text 8"/>
          <p:cNvSpPr/>
          <p:nvPr/>
        </p:nvSpPr>
        <p:spPr>
          <a:xfrm>
            <a:off x="1298448" y="54864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SODEXO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265176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Accommodation Booking Solution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48640" y="388620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Discovery Presentation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61772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202A78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617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60-minute session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business owners, product owners, operations, and technology teams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ARE HERE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 of this session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shared understanding of Tetrapak’s request, expose the decisions that determine scope and feasibility, and agree the work required to reach delivery readiness.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FFF4D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3172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final solution design or delivery commitment — the data model, flows, and principles are initial hypotheses to support discussion.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3063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OUTCOMES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474720"/>
            <a:ext cx="2464994" cy="2651760"/>
          </a:xfrm>
          <a:prstGeom prst="roundRect">
            <a:avLst>
              <a:gd name="adj" fmla="val 2968"/>
            </a:avLst>
          </a:prstGeom>
          <a:solidFill>
            <a:srgbClr val="F5F6FC"/>
          </a:solidFill>
          <a:ln/>
          <a:effectLst>
            <a:outerShdw sx="100000" sy="100000" kx="0" ky="0" algn="bl" rotWithShape="0" blurRad="76200" dist="25400" dir="5400000">
              <a:srgbClr val="9AA5D9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5800" y="3657600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0" name="Image 0" descr="/Users/mohit.kanwar_1/projects/Accomodation-Booking-Solution/deck/assets/icons/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3771900"/>
            <a:ext cx="228600" cy="2286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34440" y="3639312"/>
            <a:ext cx="15963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on scope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4160520"/>
            <a:ext cx="191635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problem the feature solves for Tetrapak employees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425114" y="3474720"/>
            <a:ext cx="2464994" cy="2651760"/>
          </a:xfrm>
          <a:prstGeom prst="roundRect">
            <a:avLst>
              <a:gd name="adj" fmla="val 2968"/>
            </a:avLst>
          </a:prstGeom>
          <a:solidFill>
            <a:srgbClr val="F5F6FC"/>
          </a:solidFill>
          <a:ln/>
          <a:effectLst>
            <a:outerShdw sx="100000" sy="100000" kx="0" ky="0" algn="bl" rotWithShape="0" blurRad="76200" dist="25400" dir="5400000">
              <a:srgbClr val="9AA5D9">
                <a:alpha val="3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62274" y="3657600"/>
            <a:ext cx="457200" cy="45720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15" name="Image 1" descr="/Users/mohit.kanwar_1/projects/Accomodation-Booking-Solution/deck/assets/icons/help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574" y="3771900"/>
            <a:ext cx="228600" cy="2286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110914" y="3639312"/>
            <a:ext cx="15963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visible list of unknowns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699434" y="4160520"/>
            <a:ext cx="191635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Business, product, commercial, and technical questions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301588" y="3474720"/>
            <a:ext cx="2464994" cy="2651760"/>
          </a:xfrm>
          <a:prstGeom prst="roundRect">
            <a:avLst>
              <a:gd name="adj" fmla="val 2968"/>
            </a:avLst>
          </a:prstGeom>
          <a:solidFill>
            <a:srgbClr val="F5F6FC"/>
          </a:solidFill>
          <a:ln/>
          <a:effectLst>
            <a:outerShdw sx="100000" sy="100000" kx="0" ky="0" algn="bl" rotWithShape="0" blurRad="76200" dist="25400" dir="5400000">
              <a:srgbClr val="9AA5D9">
                <a:alpha val="3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438748" y="3657600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0" name="Image 2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048" y="3771900"/>
            <a:ext cx="228600" cy="2286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987388" y="3639312"/>
            <a:ext cx="15963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boundaries tested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575908" y="4160520"/>
            <a:ext cx="191635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or challenge of the initial domain and integrations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9178061" y="3474720"/>
            <a:ext cx="2464994" cy="2651760"/>
          </a:xfrm>
          <a:prstGeom prst="roundRect">
            <a:avLst>
              <a:gd name="adj" fmla="val 2968"/>
            </a:avLst>
          </a:prstGeom>
          <a:solidFill>
            <a:srgbClr val="F5F6FC"/>
          </a:solidFill>
          <a:ln/>
          <a:effectLst>
            <a:outerShdw sx="100000" sy="100000" kx="0" ky="0" algn="bl" rotWithShape="0" blurRad="76200" dist="25400" dir="5400000">
              <a:srgbClr val="9AA5D9">
                <a:alpha val="3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315221" y="3657600"/>
            <a:ext cx="457200" cy="45720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25" name="Image 3" descr="/Users/mohit.kanwar_1/projects/Accomodation-Booking-Solution/deck/assets/icons/fla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9521" y="3771900"/>
            <a:ext cx="228600" cy="2286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863861" y="3639312"/>
            <a:ext cx="15963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owners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9452381" y="4160520"/>
            <a:ext cx="191635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validation workshops and blocking decisions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FOR THE NEXT HOUR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8408" y="1801368"/>
            <a:ext cx="0" cy="3621024"/>
          </a:xfrm>
          <a:prstGeom prst="line">
            <a:avLst/>
          </a:prstGeom>
          <a:noFill/>
          <a:ln w="25400">
            <a:solidFill>
              <a:srgbClr val="C9CE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00200"/>
            <a:ext cx="402336" cy="402336"/>
          </a:xfrm>
          <a:prstGeom prst="ellipse">
            <a:avLst/>
          </a:prstGeom>
          <a:solidFill>
            <a:srgbClr val="2B379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00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57276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and understanding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271455" y="1581912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5F6FC"/>
          </a:solidFill>
          <a:ln/>
        </p:spPr>
      </p:sp>
      <p:sp>
        <p:nvSpPr>
          <p:cNvPr id="9" name="Text 7"/>
          <p:cNvSpPr/>
          <p:nvPr/>
        </p:nvSpPr>
        <p:spPr>
          <a:xfrm>
            <a:off x="10271455" y="1581912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2203704"/>
            <a:ext cx="402336" cy="402336"/>
          </a:xfrm>
          <a:prstGeom prst="ellipse">
            <a:avLst/>
          </a:prstGeom>
          <a:solidFill>
            <a:srgbClr val="2B3797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203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1762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questions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0271455" y="2185416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5F6FC"/>
          </a:solidFill>
          <a:ln/>
        </p:spPr>
      </p:sp>
      <p:sp>
        <p:nvSpPr>
          <p:cNvPr id="14" name="Text 12"/>
          <p:cNvSpPr/>
          <p:nvPr/>
        </p:nvSpPr>
        <p:spPr>
          <a:xfrm>
            <a:off x="10271455" y="2185416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2807208"/>
            <a:ext cx="402336" cy="402336"/>
          </a:xfrm>
          <a:prstGeom prst="ellipse">
            <a:avLst/>
          </a:prstGeom>
          <a:solidFill>
            <a:srgbClr val="2B3797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7320" y="277977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data model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271455" y="278892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5F6FC"/>
          </a:solidFill>
          <a:ln/>
        </p:spPr>
      </p:sp>
      <p:sp>
        <p:nvSpPr>
          <p:cNvPr id="19" name="Text 17"/>
          <p:cNvSpPr/>
          <p:nvPr/>
        </p:nvSpPr>
        <p:spPr>
          <a:xfrm>
            <a:off x="10271455" y="27889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3410712"/>
            <a:ext cx="402336" cy="402336"/>
          </a:xfrm>
          <a:prstGeom prst="ellipse">
            <a:avLst/>
          </a:prstGeom>
          <a:solidFill>
            <a:srgbClr val="2B3797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3410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3383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API flow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271455" y="3392424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10271455" y="3392424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77240" y="4014216"/>
            <a:ext cx="402336" cy="402336"/>
          </a:xfrm>
          <a:prstGeom prst="ellipse">
            <a:avLst/>
          </a:prstGeom>
          <a:solidFill>
            <a:srgbClr val="2B3797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014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17320" y="398678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principles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0271455" y="3995928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5F6FC"/>
          </a:solidFill>
          <a:ln/>
        </p:spPr>
      </p:sp>
      <p:sp>
        <p:nvSpPr>
          <p:cNvPr id="29" name="Text 27"/>
          <p:cNvSpPr/>
          <p:nvPr/>
        </p:nvSpPr>
        <p:spPr>
          <a:xfrm>
            <a:off x="10271455" y="39959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77240" y="4617720"/>
            <a:ext cx="402336" cy="402336"/>
          </a:xfrm>
          <a:prstGeom prst="ellipse">
            <a:avLst/>
          </a:prstGeom>
          <a:solidFill>
            <a:srgbClr val="2B3797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417320" y="45902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and workshops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0271455" y="4599432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5F6FC"/>
          </a:solidFill>
          <a:ln/>
        </p:spPr>
      </p:sp>
      <p:sp>
        <p:nvSpPr>
          <p:cNvPr id="34" name="Text 32"/>
          <p:cNvSpPr/>
          <p:nvPr/>
        </p:nvSpPr>
        <p:spPr>
          <a:xfrm>
            <a:off x="10271455" y="4599432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77240" y="5221224"/>
            <a:ext cx="402336" cy="402336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36" name="Text 34"/>
          <p:cNvSpPr/>
          <p:nvPr/>
        </p:nvSpPr>
        <p:spPr>
          <a:xfrm>
            <a:off x="777240" y="5221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417320" y="519379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and decision recap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0271455" y="5202936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5F6FC"/>
          </a:solidFill>
          <a:ln/>
        </p:spPr>
      </p:sp>
      <p:sp>
        <p:nvSpPr>
          <p:cNvPr id="39" name="Text 37"/>
          <p:cNvSpPr/>
          <p:nvPr/>
        </p:nvSpPr>
        <p:spPr>
          <a:xfrm>
            <a:off x="10271455" y="5202936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417320" y="58704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60 minutes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379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3017520"/>
            <a:ext cx="5486400" cy="54864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Shape 2"/>
          <p:cNvSpPr/>
          <p:nvPr/>
        </p:nvSpPr>
        <p:spPr>
          <a:xfrm>
            <a:off x="4229100" y="2519172"/>
            <a:ext cx="960120" cy="96012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5" name="Image 0" descr="/Users/mohit.kanwar_1/projects/Accomodation-Booking-Solution/deck/assets/icons/comp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9130" y="2759202"/>
            <a:ext cx="480060" cy="4800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49240" y="251460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and Understanding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349240" y="3520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CONTEXT AND UNDERSTANDING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heard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Tetrapak wants eligible employees travelling between offices to request accommodation inside the existing Sodexo B2C application.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185416"/>
            <a:ext cx="512064" cy="512064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6" name="Image 0" descr="/Users/mohit.kanwar_1/projects/Accomodation-Booking-Solution/deck/assets/icons/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313432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2148840"/>
            <a:ext cx="4724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experience is a React micro frontend, composed as a B2C Lego.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97016" y="2185416"/>
            <a:ext cx="512064" cy="512064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9" name="Image 1" descr="/Users/mohit.kanwar_1/projects/Accomodation-Booking-Solution/deck/assets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032" y="231343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18808" y="2148840"/>
            <a:ext cx="4724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B2C authentication identifies the employee and client.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3419856"/>
            <a:ext cx="512064" cy="512064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2" name="Image 2" descr="/Users/mohit.kanwar_1/projects/Accomodation-Booking-Solution/deck/assets/icons/glo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547872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88720" y="3383280"/>
            <a:ext cx="4724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accommodation comes from Booking.com.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297016" y="3419856"/>
            <a:ext cx="512064" cy="512064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15" name="Image 3" descr="/Users/mohit.kanwar_1/projects/Accomodation-Booking-Solution/deck/assets/icons/mapP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5032" y="3547872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918808" y="3383280"/>
            <a:ext cx="4724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and price limits vary by client, employee level, and destination.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66928" y="4654296"/>
            <a:ext cx="512064" cy="512064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8" name="Image 4" descr="/Users/mohit.kanwar_1/projects/Accomodation-Booking-Solution/deck/assets/icons/user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4782312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188720" y="4617720"/>
            <a:ext cx="4724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Tetrapak operator reviews requests and creates the real booking.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6297016" y="4654296"/>
            <a:ext cx="512064" cy="512064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21" name="Image 5" descr="/Users/mohit.kanwar_1/projects/Accomodation-Booking-Solution/deck/assets/icons/setting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5032" y="4782312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918808" y="4617720"/>
            <a:ext cx="4724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administration capability manages destinations, role levels, policies, and technical configuration.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CONTEXT AND UNDERSTANDING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accommodation ecosystem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client corporations and multiple provider corporations, coordinated by Sodexo. Every corporation keeps its own users and organisational boundary.</a:t>
            </a:r>
            <a:endParaRPr lang="en-US" sz="1350" dirty="0"/>
          </a:p>
        </p:txBody>
      </p:sp>
      <p:pic>
        <p:nvPicPr>
          <p:cNvPr id="5" name="Image 0" descr="/Users/mohit.kanwar_1/projects/Accomodation-Booking-Solution/deck/assets/diagrams/corporate-user-landsca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874520"/>
            <a:ext cx="7863840" cy="42125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CONTEXT AND UNDERSTANDING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roles across three groups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454298" cy="4709160"/>
          </a:xfrm>
          <a:prstGeom prst="roundRect">
            <a:avLst>
              <a:gd name="adj" fmla="val 2647"/>
            </a:avLst>
          </a:prstGeom>
          <a:solidFill>
            <a:srgbClr val="F5F6FC"/>
          </a:solidFill>
          <a:ln w="12700">
            <a:solidFill>
              <a:srgbClr val="C9CE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3454298" cy="502920"/>
          </a:xfrm>
          <a:prstGeom prst="roundRect">
            <a:avLst>
              <a:gd name="adj" fmla="val 18182"/>
            </a:avLst>
          </a:prstGeom>
          <a:solidFill>
            <a:srgbClr val="2B379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64792"/>
            <a:ext cx="3454298" cy="246888"/>
          </a:xfrm>
          <a:prstGeom prst="rect">
            <a:avLst/>
          </a:prstGeom>
          <a:solidFill>
            <a:srgbClr val="2B3797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508760"/>
            <a:ext cx="31799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CORPORATION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9" name="Image 0" descr="/Users/mohit.kanwar_1/projects/Accomodation-Booking-Solution/deck/assets/icons/u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2537460"/>
            <a:ext cx="228600" cy="228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98448" y="228600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Traveller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298448" y="2761488"/>
            <a:ext cx="25398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Searches, submits requests, tracks outcomes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31520" y="3794760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3" name="Image 1" descr="/Users/mohit.kanwar_1/projects/Accomodation-Booking-Solution/deck/assets/icons/user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" y="3909060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365760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1298448" y="4133088"/>
            <a:ext cx="25398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rejects, or seeks clarification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731520" y="5166360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7" name="Image 2" descr="/Users/mohit.kanwar_1/projects/Accomodation-Booking-Solution/deck/assets/icons/settin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5280660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98448" y="502920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Administrator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298448" y="5504688"/>
            <a:ext cx="25398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policy, roles, destinations, price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4368698" y="1508760"/>
            <a:ext cx="3454298" cy="4709160"/>
          </a:xfrm>
          <a:prstGeom prst="roundRect">
            <a:avLst>
              <a:gd name="adj" fmla="val 2647"/>
            </a:avLst>
          </a:prstGeom>
          <a:solidFill>
            <a:srgbClr val="F5F6FC"/>
          </a:solidFill>
          <a:ln w="12700">
            <a:solidFill>
              <a:srgbClr val="C9CEE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368698" y="1508760"/>
            <a:ext cx="3454298" cy="502920"/>
          </a:xfrm>
          <a:prstGeom prst="roundRect">
            <a:avLst>
              <a:gd name="adj" fmla="val 18182"/>
            </a:avLst>
          </a:prstGeom>
          <a:solidFill>
            <a:srgbClr val="202A78"/>
          </a:solidFill>
          <a:ln/>
        </p:spPr>
      </p:sp>
      <p:sp>
        <p:nvSpPr>
          <p:cNvPr id="22" name="Shape 17"/>
          <p:cNvSpPr/>
          <p:nvPr/>
        </p:nvSpPr>
        <p:spPr>
          <a:xfrm>
            <a:off x="4368698" y="1764792"/>
            <a:ext cx="3454298" cy="246888"/>
          </a:xfrm>
          <a:prstGeom prst="rect">
            <a:avLst/>
          </a:prstGeom>
          <a:solidFill>
            <a:srgbClr val="202A78"/>
          </a:solidFill>
          <a:ln/>
        </p:spPr>
      </p:sp>
      <p:sp>
        <p:nvSpPr>
          <p:cNvPr id="23" name="Text 18"/>
          <p:cNvSpPr/>
          <p:nvPr/>
        </p:nvSpPr>
        <p:spPr>
          <a:xfrm>
            <a:off x="4505858" y="1508760"/>
            <a:ext cx="31799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SODEXO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551578" y="2423160"/>
            <a:ext cx="457200" cy="45720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25" name="Image 3" descr="/Users/mohit.kanwar_1/projects/Accomodation-Booking-Solution/deck/assets/icons/briefca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5878" y="2537460"/>
            <a:ext cx="228600" cy="2286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118506" y="228600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Operator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5118506" y="2761488"/>
            <a:ext cx="25398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requests, creates the reservation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51578" y="3794760"/>
            <a:ext cx="457200" cy="45720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29" name="Image 4" descr="/Users/mohit.kanwar_1/projects/Accomodation-Booking-Solution/deck/assets/icons/shie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5878" y="3909060"/>
            <a:ext cx="228600" cy="22860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118506" y="365760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Sodexo Administrator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5118506" y="4133088"/>
            <a:ext cx="25398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tenants, integrations, reporting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8188757" y="1508760"/>
            <a:ext cx="3454298" cy="4709160"/>
          </a:xfrm>
          <a:prstGeom prst="roundRect">
            <a:avLst>
              <a:gd name="adj" fmla="val 2647"/>
            </a:avLst>
          </a:prstGeom>
          <a:solidFill>
            <a:srgbClr val="F5F6FC"/>
          </a:solidFill>
          <a:ln w="12700">
            <a:solidFill>
              <a:srgbClr val="C9CEE8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8188757" y="1508760"/>
            <a:ext cx="3454298" cy="502920"/>
          </a:xfrm>
          <a:prstGeom prst="roundRect">
            <a:avLst>
              <a:gd name="adj" fmla="val 18182"/>
            </a:avLst>
          </a:prstGeom>
          <a:solidFill>
            <a:srgbClr val="ED1C24"/>
          </a:solidFill>
          <a:ln/>
        </p:spPr>
      </p:sp>
      <p:sp>
        <p:nvSpPr>
          <p:cNvPr id="34" name="Shape 27"/>
          <p:cNvSpPr/>
          <p:nvPr/>
        </p:nvSpPr>
        <p:spPr>
          <a:xfrm>
            <a:off x="8188757" y="1764792"/>
            <a:ext cx="3454298" cy="246888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5" name="Text 28"/>
          <p:cNvSpPr/>
          <p:nvPr/>
        </p:nvSpPr>
        <p:spPr>
          <a:xfrm>
            <a:off x="8325917" y="1508760"/>
            <a:ext cx="31799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CORPORATION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8371637" y="2423160"/>
            <a:ext cx="457200" cy="45720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37" name="Image 5" descr="/Users/mohit.kanwar_1/projects/Accomodation-Booking-Solution/deck/assets/icons/hom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5937" y="2537460"/>
            <a:ext cx="228600" cy="228600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8938565" y="228600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Provider Agent</a:t>
            </a:r>
            <a:endParaRPr lang="en-US" sz="1250" dirty="0"/>
          </a:p>
        </p:txBody>
      </p:sp>
      <p:sp>
        <p:nvSpPr>
          <p:cNvPr id="39" name="Text 31"/>
          <p:cNvSpPr/>
          <p:nvPr/>
        </p:nvSpPr>
        <p:spPr>
          <a:xfrm>
            <a:off x="8938565" y="2761488"/>
            <a:ext cx="25398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Fulfils reservations, manages content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41" name="Text 33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CONTEXT AND UNDERSTANDING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Traveller journey, combined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eight traveller journeys, in one map — the primary path plus every supporting action available at each stage.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554148" cy="868680"/>
          </a:xfrm>
          <a:prstGeom prst="roundRect">
            <a:avLst>
              <a:gd name="adj" fmla="val 10526"/>
            </a:avLst>
          </a:prstGeom>
          <a:solidFill>
            <a:srgbClr val="2B3797"/>
          </a:solidFill>
          <a:ln/>
        </p:spPr>
      </p:sp>
      <p:pic>
        <p:nvPicPr>
          <p:cNvPr id="6" name="Image 0" descr="/Users/mohit.kanwar_1/projects/Accomodation-Booking-Solution/deck/assets/icons/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42516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43584" y="1600200"/>
            <a:ext cx="17220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&amp; search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121076" y="1933956"/>
            <a:ext cx="256032" cy="201168"/>
          </a:xfrm>
          <a:prstGeom prst="rightArrow">
            <a:avLst/>
          </a:prstGeom>
          <a:solidFill>
            <a:srgbClr val="C9CEE8"/>
          </a:solidFill>
          <a:ln/>
        </p:spPr>
      </p:sp>
      <p:sp>
        <p:nvSpPr>
          <p:cNvPr id="9" name="Shape 6"/>
          <p:cNvSpPr/>
          <p:nvPr/>
        </p:nvSpPr>
        <p:spPr>
          <a:xfrm>
            <a:off x="3395396" y="1600200"/>
            <a:ext cx="2554148" cy="868680"/>
          </a:xfrm>
          <a:prstGeom prst="roundRect">
            <a:avLst>
              <a:gd name="adj" fmla="val 10526"/>
            </a:avLst>
          </a:prstGeom>
          <a:solidFill>
            <a:srgbClr val="2B3797"/>
          </a:solidFill>
          <a:ln/>
        </p:spPr>
      </p:sp>
      <p:pic>
        <p:nvPicPr>
          <p:cNvPr id="10" name="Image 1" descr="/Users/mohit.kanwar_1/projects/Accomodation-Booking-Solution/deck/assets/icons/arrow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564" y="1842516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90340" y="1600200"/>
            <a:ext cx="17220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request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967832" y="1933956"/>
            <a:ext cx="256032" cy="201168"/>
          </a:xfrm>
          <a:prstGeom prst="rightArrow">
            <a:avLst/>
          </a:prstGeom>
          <a:solidFill>
            <a:srgbClr val="C9CEE8"/>
          </a:solidFill>
          <a:ln/>
        </p:spPr>
      </p:sp>
      <p:sp>
        <p:nvSpPr>
          <p:cNvPr id="13" name="Shape 9"/>
          <p:cNvSpPr/>
          <p:nvPr/>
        </p:nvSpPr>
        <p:spPr>
          <a:xfrm>
            <a:off x="6242152" y="1600200"/>
            <a:ext cx="2554148" cy="868680"/>
          </a:xfrm>
          <a:prstGeom prst="roundRect">
            <a:avLst>
              <a:gd name="adj" fmla="val 10526"/>
            </a:avLst>
          </a:prstGeom>
          <a:solidFill>
            <a:srgbClr val="202A78"/>
          </a:solidFill>
          <a:ln/>
        </p:spPr>
      </p:sp>
      <p:pic>
        <p:nvPicPr>
          <p:cNvPr id="14" name="Image 2" descr="/Users/mohit.kanwar_1/projects/Accomodation-Booking-Solution/deck/assets/icons/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320" y="1842516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37096" y="1600200"/>
            <a:ext cx="17220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 approval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814587" y="1933956"/>
            <a:ext cx="256032" cy="201168"/>
          </a:xfrm>
          <a:prstGeom prst="rightArrow">
            <a:avLst/>
          </a:prstGeom>
          <a:solidFill>
            <a:srgbClr val="C9CEE8"/>
          </a:solidFill>
          <a:ln/>
        </p:spPr>
      </p:sp>
      <p:sp>
        <p:nvSpPr>
          <p:cNvPr id="17" name="Shape 12"/>
          <p:cNvSpPr/>
          <p:nvPr/>
        </p:nvSpPr>
        <p:spPr>
          <a:xfrm>
            <a:off x="9088907" y="1600200"/>
            <a:ext cx="2554148" cy="868680"/>
          </a:xfrm>
          <a:prstGeom prst="roundRect">
            <a:avLst>
              <a:gd name="adj" fmla="val 10526"/>
            </a:avLst>
          </a:prstGeom>
          <a:solidFill>
            <a:srgbClr val="187A5A"/>
          </a:solidFill>
          <a:ln/>
        </p:spPr>
      </p:sp>
      <p:pic>
        <p:nvPicPr>
          <p:cNvPr id="18" name="Image 3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0075" y="1842516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783851" y="1600200"/>
            <a:ext cx="17220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&amp; booked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7519226" y="2468880"/>
            <a:ext cx="0" cy="210312"/>
          </a:xfrm>
          <a:prstGeom prst="line">
            <a:avLst/>
          </a:prstGeom>
          <a:noFill/>
          <a:ln w="25400">
            <a:solidFill>
              <a:srgbClr val="C9CEE8"/>
            </a:solidFill>
            <a:prstDash val="dash"/>
          </a:ln>
        </p:spPr>
      </p:sp>
      <p:sp>
        <p:nvSpPr>
          <p:cNvPr id="21" name="Text 15"/>
          <p:cNvSpPr/>
          <p:nvPr/>
        </p:nvSpPr>
        <p:spPr>
          <a:xfrm>
            <a:off x="548640" y="27249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AWAITING APPROVAL, THE TRAVELLER CAN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548640" y="3063240"/>
            <a:ext cx="2567864" cy="1051560"/>
          </a:xfrm>
          <a:prstGeom prst="roundRect">
            <a:avLst>
              <a:gd name="adj" fmla="val 6957"/>
            </a:avLst>
          </a:prstGeom>
          <a:solidFill>
            <a:srgbClr val="F5F6FC"/>
          </a:solidFill>
          <a:ln/>
        </p:spPr>
      </p:sp>
      <p:sp>
        <p:nvSpPr>
          <p:cNvPr id="23" name="Shape 17"/>
          <p:cNvSpPr/>
          <p:nvPr/>
        </p:nvSpPr>
        <p:spPr>
          <a:xfrm>
            <a:off x="1613116" y="3154680"/>
            <a:ext cx="438912" cy="438912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4" name="Image 4" descr="/Users/mohit.kanwar_1/projects/Accomodation-Booking-Solution/deck/assets/icons/ey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2844" y="3264408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658368" y="3630168"/>
            <a:ext cx="234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request status &amp; details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3390824" y="3063240"/>
            <a:ext cx="2567864" cy="1051560"/>
          </a:xfrm>
          <a:prstGeom prst="roundRect">
            <a:avLst>
              <a:gd name="adj" fmla="val 6957"/>
            </a:avLst>
          </a:prstGeom>
          <a:solidFill>
            <a:srgbClr val="F5F6FC"/>
          </a:solidFill>
          <a:ln/>
        </p:spPr>
      </p:sp>
      <p:sp>
        <p:nvSpPr>
          <p:cNvPr id="27" name="Shape 20"/>
          <p:cNvSpPr/>
          <p:nvPr/>
        </p:nvSpPr>
        <p:spPr>
          <a:xfrm>
            <a:off x="4455300" y="3154680"/>
            <a:ext cx="438912" cy="438912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8" name="Image 5" descr="/Users/mohit.kanwar_1/projects/Accomodation-Booking-Solution/deck/assets/icons/fileTex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5028" y="3264408"/>
            <a:ext cx="219456" cy="2194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3500552" y="3630168"/>
            <a:ext cx="234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destination, dates, or requirements</a:t>
            </a:r>
            <a:endParaRPr lang="en-US" sz="1050" dirty="0"/>
          </a:p>
        </p:txBody>
      </p:sp>
      <p:sp>
        <p:nvSpPr>
          <p:cNvPr id="30" name="Shape 22"/>
          <p:cNvSpPr/>
          <p:nvPr/>
        </p:nvSpPr>
        <p:spPr>
          <a:xfrm>
            <a:off x="6233008" y="3063240"/>
            <a:ext cx="2567864" cy="1051560"/>
          </a:xfrm>
          <a:prstGeom prst="roundRect">
            <a:avLst>
              <a:gd name="adj" fmla="val 6957"/>
            </a:avLst>
          </a:prstGeom>
          <a:solidFill>
            <a:srgbClr val="F5F6FC"/>
          </a:solidFill>
          <a:ln/>
        </p:spPr>
      </p:sp>
      <p:sp>
        <p:nvSpPr>
          <p:cNvPr id="31" name="Shape 23"/>
          <p:cNvSpPr/>
          <p:nvPr/>
        </p:nvSpPr>
        <p:spPr>
          <a:xfrm>
            <a:off x="7297484" y="3154680"/>
            <a:ext cx="438912" cy="438912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32" name="Image 6" descr="/Users/mohit.kanwar_1/projects/Accomodation-Booking-Solution/deck/assets/icons/messageSquar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7212" y="3264408"/>
            <a:ext cx="219456" cy="219456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342736" y="3630168"/>
            <a:ext cx="234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 follow-up reminder</a:t>
            </a:r>
            <a:endParaRPr lang="en-US" sz="1050" dirty="0"/>
          </a:p>
        </p:txBody>
      </p:sp>
      <p:sp>
        <p:nvSpPr>
          <p:cNvPr id="34" name="Shape 25"/>
          <p:cNvSpPr/>
          <p:nvPr/>
        </p:nvSpPr>
        <p:spPr>
          <a:xfrm>
            <a:off x="9075191" y="3063240"/>
            <a:ext cx="2567864" cy="1051560"/>
          </a:xfrm>
          <a:prstGeom prst="roundRect">
            <a:avLst>
              <a:gd name="adj" fmla="val 6957"/>
            </a:avLst>
          </a:prstGeom>
          <a:solidFill>
            <a:srgbClr val="F5F6FC"/>
          </a:solidFill>
          <a:ln/>
        </p:spPr>
      </p:sp>
      <p:sp>
        <p:nvSpPr>
          <p:cNvPr id="35" name="Shape 26"/>
          <p:cNvSpPr/>
          <p:nvPr/>
        </p:nvSpPr>
        <p:spPr>
          <a:xfrm>
            <a:off x="10139667" y="3154680"/>
            <a:ext cx="438912" cy="438912"/>
          </a:xfrm>
          <a:prstGeom prst="ellipse">
            <a:avLst/>
          </a:prstGeom>
          <a:solidFill>
            <a:srgbClr val="9A5A00"/>
          </a:solidFill>
          <a:ln/>
        </p:spPr>
      </p:sp>
      <p:pic>
        <p:nvPicPr>
          <p:cNvPr id="36" name="Image 7" descr="/Users/mohit.kanwar_1/projects/Accomodation-Booking-Solution/deck/assets/icons/xCirc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9395" y="3264408"/>
            <a:ext cx="219456" cy="21945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9184919" y="3630168"/>
            <a:ext cx="234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the request</a:t>
            </a:r>
            <a:endParaRPr lang="en-US" sz="1050" dirty="0"/>
          </a:p>
        </p:txBody>
      </p:sp>
      <p:sp>
        <p:nvSpPr>
          <p:cNvPr id="38" name="Shape 28"/>
          <p:cNvSpPr/>
          <p:nvPr/>
        </p:nvSpPr>
        <p:spPr>
          <a:xfrm>
            <a:off x="10365981" y="2468880"/>
            <a:ext cx="0" cy="1920240"/>
          </a:xfrm>
          <a:prstGeom prst="line">
            <a:avLst/>
          </a:prstGeom>
          <a:noFill/>
          <a:ln w="25400">
            <a:solidFill>
              <a:srgbClr val="C9CEE8"/>
            </a:solidFill>
            <a:prstDash val="dash"/>
          </a:ln>
        </p:spPr>
      </p:sp>
      <p:sp>
        <p:nvSpPr>
          <p:cNvPr id="39" name="Text 29"/>
          <p:cNvSpPr/>
          <p:nvPr/>
        </p:nvSpPr>
        <p:spPr>
          <a:xfrm>
            <a:off x="548640" y="44348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8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CONFIRMED, THE TRAVELLER CAN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548640" y="4773168"/>
            <a:ext cx="3515258" cy="1051560"/>
          </a:xfrm>
          <a:prstGeom prst="roundRect">
            <a:avLst>
              <a:gd name="adj" fmla="val 6957"/>
            </a:avLst>
          </a:prstGeom>
          <a:solidFill>
            <a:srgbClr val="F5F6FC"/>
          </a:solidFill>
          <a:ln/>
        </p:spPr>
      </p:sp>
      <p:sp>
        <p:nvSpPr>
          <p:cNvPr id="41" name="Shape 31"/>
          <p:cNvSpPr/>
          <p:nvPr/>
        </p:nvSpPr>
        <p:spPr>
          <a:xfrm>
            <a:off x="2086813" y="4864608"/>
            <a:ext cx="438912" cy="438912"/>
          </a:xfrm>
          <a:prstGeom prst="ellipse">
            <a:avLst/>
          </a:prstGeom>
          <a:solidFill>
            <a:srgbClr val="187A5A"/>
          </a:solidFill>
          <a:ln/>
        </p:spPr>
      </p:sp>
      <p:pic>
        <p:nvPicPr>
          <p:cNvPr id="42" name="Image 8" descr="/Users/mohit.kanwar_1/projects/Accomodation-Booking-Solution/deck/assets/icons/downloa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96541" y="4974336"/>
            <a:ext cx="219456" cy="219456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658368" y="5340096"/>
            <a:ext cx="32958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or email the confirmation letter</a:t>
            </a:r>
            <a:endParaRPr lang="en-US" sz="1050" dirty="0"/>
          </a:p>
        </p:txBody>
      </p:sp>
      <p:sp>
        <p:nvSpPr>
          <p:cNvPr id="44" name="Shape 33"/>
          <p:cNvSpPr/>
          <p:nvPr/>
        </p:nvSpPr>
        <p:spPr>
          <a:xfrm>
            <a:off x="4338218" y="4773168"/>
            <a:ext cx="3515258" cy="1051560"/>
          </a:xfrm>
          <a:prstGeom prst="roundRect">
            <a:avLst>
              <a:gd name="adj" fmla="val 6957"/>
            </a:avLst>
          </a:prstGeom>
          <a:solidFill>
            <a:srgbClr val="F5F6FC"/>
          </a:solidFill>
          <a:ln/>
        </p:spPr>
      </p:sp>
      <p:sp>
        <p:nvSpPr>
          <p:cNvPr id="45" name="Shape 34"/>
          <p:cNvSpPr/>
          <p:nvPr/>
        </p:nvSpPr>
        <p:spPr>
          <a:xfrm>
            <a:off x="5876392" y="4864608"/>
            <a:ext cx="438912" cy="438912"/>
          </a:xfrm>
          <a:prstGeom prst="ellipse">
            <a:avLst/>
          </a:prstGeom>
          <a:solidFill>
            <a:srgbClr val="187A5A"/>
          </a:solidFill>
          <a:ln/>
        </p:spPr>
      </p:sp>
      <p:pic>
        <p:nvPicPr>
          <p:cNvPr id="46" name="Image 9" descr="/Users/mohit.kanwar_1/projects/Accomodation-Booking-Solution/deck/assets/icons/phon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86120" y="4974336"/>
            <a:ext cx="219456" cy="219456"/>
          </a:xfrm>
          <a:prstGeom prst="rect">
            <a:avLst/>
          </a:prstGeom>
        </p:spPr>
      </p:pic>
      <p:sp>
        <p:nvSpPr>
          <p:cNvPr id="47" name="Text 35"/>
          <p:cNvSpPr/>
          <p:nvPr/>
        </p:nvSpPr>
        <p:spPr>
          <a:xfrm>
            <a:off x="4447946" y="5340096"/>
            <a:ext cx="32958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accommodation contact details</a:t>
            </a:r>
            <a:endParaRPr lang="en-US" sz="1050" dirty="0"/>
          </a:p>
        </p:txBody>
      </p:sp>
      <p:sp>
        <p:nvSpPr>
          <p:cNvPr id="48" name="Shape 36"/>
          <p:cNvSpPr/>
          <p:nvPr/>
        </p:nvSpPr>
        <p:spPr>
          <a:xfrm>
            <a:off x="8127797" y="4773168"/>
            <a:ext cx="3515258" cy="1051560"/>
          </a:xfrm>
          <a:prstGeom prst="roundRect">
            <a:avLst>
              <a:gd name="adj" fmla="val 6957"/>
            </a:avLst>
          </a:prstGeom>
          <a:solidFill>
            <a:srgbClr val="F5F6FC"/>
          </a:solidFill>
          <a:ln/>
        </p:spPr>
      </p:sp>
      <p:sp>
        <p:nvSpPr>
          <p:cNvPr id="49" name="Shape 37"/>
          <p:cNvSpPr/>
          <p:nvPr/>
        </p:nvSpPr>
        <p:spPr>
          <a:xfrm>
            <a:off x="9665970" y="4864608"/>
            <a:ext cx="438912" cy="438912"/>
          </a:xfrm>
          <a:prstGeom prst="ellipse">
            <a:avLst/>
          </a:prstGeom>
          <a:solidFill>
            <a:srgbClr val="9A5A00"/>
          </a:solidFill>
          <a:ln/>
        </p:spPr>
      </p:sp>
      <p:pic>
        <p:nvPicPr>
          <p:cNvPr id="50" name="Image 10" descr="/Users/mohit.kanwar_1/projects/Accomodation-Booking-Solution/deck/assets/icons/alertTriangl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75698" y="4974336"/>
            <a:ext cx="219456" cy="219456"/>
          </a:xfrm>
          <a:prstGeom prst="rect">
            <a:avLst/>
          </a:prstGeom>
        </p:spPr>
      </p:pic>
      <p:sp>
        <p:nvSpPr>
          <p:cNvPr id="51" name="Text 38"/>
          <p:cNvSpPr/>
          <p:nvPr/>
        </p:nvSpPr>
        <p:spPr>
          <a:xfrm>
            <a:off x="8237525" y="5340096"/>
            <a:ext cx="32958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a booking issue</a:t>
            </a:r>
            <a:endParaRPr lang="en-US" sz="1050" dirty="0"/>
          </a:p>
        </p:txBody>
      </p:sp>
      <p:sp>
        <p:nvSpPr>
          <p:cNvPr id="52" name="Text 3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53" name="Text 40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CONTEXT AND UNDERSTANDING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Approver journey, combined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approver journeys, in one map — manage the queue, review the request, then decide.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03066" cy="868680"/>
          </a:xfrm>
          <a:prstGeom prst="roundRect">
            <a:avLst>
              <a:gd name="adj" fmla="val 10526"/>
            </a:avLst>
          </a:prstGeom>
          <a:solidFill>
            <a:srgbClr val="2B3797"/>
          </a:solidFill>
          <a:ln/>
        </p:spPr>
      </p:sp>
      <p:pic>
        <p:nvPicPr>
          <p:cNvPr id="6" name="Image 0" descr="/Users/mohit.kanwar_1/projects/Accomodation-Booking-Solution/deck/assets/icons/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42516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43584" y="1600200"/>
            <a:ext cx="26709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approval queue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069994" y="1933956"/>
            <a:ext cx="256032" cy="201168"/>
          </a:xfrm>
          <a:prstGeom prst="rightArrow">
            <a:avLst/>
          </a:prstGeom>
          <a:solidFill>
            <a:srgbClr val="C9CEE8"/>
          </a:solidFill>
          <a:ln/>
        </p:spPr>
      </p:sp>
      <p:sp>
        <p:nvSpPr>
          <p:cNvPr id="9" name="Shape 6"/>
          <p:cNvSpPr/>
          <p:nvPr/>
        </p:nvSpPr>
        <p:spPr>
          <a:xfrm>
            <a:off x="4344314" y="1600200"/>
            <a:ext cx="3503066" cy="868680"/>
          </a:xfrm>
          <a:prstGeom prst="roundRect">
            <a:avLst>
              <a:gd name="adj" fmla="val 10526"/>
            </a:avLst>
          </a:prstGeom>
          <a:solidFill>
            <a:srgbClr val="2B3797"/>
          </a:solidFill>
          <a:ln/>
        </p:spPr>
      </p:sp>
      <p:pic>
        <p:nvPicPr>
          <p:cNvPr id="10" name="Image 1" descr="/Users/mohit.kanwar_1/projects/Accomodation-Booking-Solution/deck/assets/icons/ey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5482" y="1842516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039258" y="1600200"/>
            <a:ext cx="26709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request &amp; policy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7865669" y="1933956"/>
            <a:ext cx="256032" cy="201168"/>
          </a:xfrm>
          <a:prstGeom prst="rightArrow">
            <a:avLst/>
          </a:prstGeom>
          <a:solidFill>
            <a:srgbClr val="C9CEE8"/>
          </a:solidFill>
          <a:ln/>
        </p:spPr>
      </p:sp>
      <p:sp>
        <p:nvSpPr>
          <p:cNvPr id="13" name="Shape 9"/>
          <p:cNvSpPr/>
          <p:nvPr/>
        </p:nvSpPr>
        <p:spPr>
          <a:xfrm>
            <a:off x="8139989" y="1600200"/>
            <a:ext cx="3503066" cy="868680"/>
          </a:xfrm>
          <a:prstGeom prst="roundRect">
            <a:avLst>
              <a:gd name="adj" fmla="val 10526"/>
            </a:avLst>
          </a:prstGeom>
          <a:solidFill>
            <a:srgbClr val="202A78"/>
          </a:solidFill>
          <a:ln/>
        </p:spPr>
      </p:sp>
      <p:pic>
        <p:nvPicPr>
          <p:cNvPr id="14" name="Image 2" descr="/Users/mohit.kanwar_1/projects/Accomodation-Booking-Solution/deck/assets/icons/gitBran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1157" y="1842516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834933" y="1600200"/>
            <a:ext cx="26709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9891522" y="2468880"/>
            <a:ext cx="0" cy="274320"/>
          </a:xfrm>
          <a:prstGeom prst="line">
            <a:avLst/>
          </a:prstGeom>
          <a:noFill/>
          <a:ln w="25400">
            <a:solidFill>
              <a:srgbClr val="C9CEE8"/>
            </a:solidFill>
            <a:prstDash val="dash"/>
          </a:ln>
        </p:spPr>
      </p:sp>
      <p:sp>
        <p:nvSpPr>
          <p:cNvPr id="17" name="Text 12"/>
          <p:cNvSpPr/>
          <p:nvPr/>
        </p:nvSpPr>
        <p:spPr>
          <a:xfrm>
            <a:off x="548640" y="2788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APPROVER CAN THEN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3154680"/>
            <a:ext cx="2567864" cy="1051560"/>
          </a:xfrm>
          <a:prstGeom prst="roundRect">
            <a:avLst>
              <a:gd name="adj" fmla="val 6957"/>
            </a:avLst>
          </a:prstGeom>
          <a:solidFill>
            <a:srgbClr val="F5F6FC"/>
          </a:solidFill>
          <a:ln/>
        </p:spPr>
      </p:sp>
      <p:sp>
        <p:nvSpPr>
          <p:cNvPr id="19" name="Shape 14"/>
          <p:cNvSpPr/>
          <p:nvPr/>
        </p:nvSpPr>
        <p:spPr>
          <a:xfrm>
            <a:off x="1613116" y="3246120"/>
            <a:ext cx="438912" cy="438912"/>
          </a:xfrm>
          <a:prstGeom prst="ellipse">
            <a:avLst/>
          </a:prstGeom>
          <a:solidFill>
            <a:srgbClr val="187A5A"/>
          </a:solidFill>
          <a:ln/>
        </p:spPr>
      </p:sp>
      <p:pic>
        <p:nvPicPr>
          <p:cNvPr id="20" name="Image 3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2844" y="3355848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58368" y="3721608"/>
            <a:ext cx="234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request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3390824" y="3154680"/>
            <a:ext cx="2567864" cy="1051560"/>
          </a:xfrm>
          <a:prstGeom prst="roundRect">
            <a:avLst>
              <a:gd name="adj" fmla="val 6957"/>
            </a:avLst>
          </a:prstGeom>
          <a:solidFill>
            <a:srgbClr val="F5F6FC"/>
          </a:solidFill>
          <a:ln/>
        </p:spPr>
      </p:sp>
      <p:sp>
        <p:nvSpPr>
          <p:cNvPr id="23" name="Shape 17"/>
          <p:cNvSpPr/>
          <p:nvPr/>
        </p:nvSpPr>
        <p:spPr>
          <a:xfrm>
            <a:off x="4455300" y="3246120"/>
            <a:ext cx="438912" cy="438912"/>
          </a:xfrm>
          <a:prstGeom prst="ellipse">
            <a:avLst/>
          </a:prstGeom>
          <a:solidFill>
            <a:srgbClr val="9A5A00"/>
          </a:solidFill>
          <a:ln/>
        </p:spPr>
      </p:sp>
      <p:pic>
        <p:nvPicPr>
          <p:cNvPr id="24" name="Image 4" descr="/Users/mohit.kanwar_1/projects/Accomodation-Booking-Solution/deck/assets/icons/x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5028" y="3355848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3500552" y="3721608"/>
            <a:ext cx="234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the request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6233008" y="3154680"/>
            <a:ext cx="2567864" cy="1051560"/>
          </a:xfrm>
          <a:prstGeom prst="roundRect">
            <a:avLst>
              <a:gd name="adj" fmla="val 6957"/>
            </a:avLst>
          </a:prstGeom>
          <a:solidFill>
            <a:srgbClr val="F5F6FC"/>
          </a:solidFill>
          <a:ln/>
        </p:spPr>
      </p:sp>
      <p:sp>
        <p:nvSpPr>
          <p:cNvPr id="27" name="Shape 20"/>
          <p:cNvSpPr/>
          <p:nvPr/>
        </p:nvSpPr>
        <p:spPr>
          <a:xfrm>
            <a:off x="7297484" y="3246120"/>
            <a:ext cx="438912" cy="438912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8" name="Image 5" descr="/Users/mohit.kanwar_1/projects/Accomodation-Booking-Solution/deck/assets/icons/messageSquar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7212" y="3355848"/>
            <a:ext cx="219456" cy="2194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342736" y="3721608"/>
            <a:ext cx="234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 clarification</a:t>
            </a:r>
            <a:endParaRPr lang="en-US" sz="1050" dirty="0"/>
          </a:p>
        </p:txBody>
      </p:sp>
      <p:sp>
        <p:nvSpPr>
          <p:cNvPr id="30" name="Shape 22"/>
          <p:cNvSpPr/>
          <p:nvPr/>
        </p:nvSpPr>
        <p:spPr>
          <a:xfrm>
            <a:off x="9075191" y="3154680"/>
            <a:ext cx="2567864" cy="1051560"/>
          </a:xfrm>
          <a:prstGeom prst="roundRect">
            <a:avLst>
              <a:gd name="adj" fmla="val 6957"/>
            </a:avLst>
          </a:prstGeom>
          <a:solidFill>
            <a:srgbClr val="F5F6FC"/>
          </a:solidFill>
          <a:ln/>
        </p:spPr>
      </p:sp>
      <p:sp>
        <p:nvSpPr>
          <p:cNvPr id="31" name="Shape 23"/>
          <p:cNvSpPr/>
          <p:nvPr/>
        </p:nvSpPr>
        <p:spPr>
          <a:xfrm>
            <a:off x="10139667" y="3246120"/>
            <a:ext cx="438912" cy="438912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32" name="Image 6" descr="/Users/mohit.kanwar_1/projects/Accomodation-Booking-Solution/deck/assets/icons/refreshC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9395" y="3355848"/>
            <a:ext cx="219456" cy="219456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9184919" y="3721608"/>
            <a:ext cx="234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Reassess a changed offer</a:t>
            </a:r>
            <a:endParaRPr lang="en-US" sz="1050" dirty="0"/>
          </a:p>
        </p:txBody>
      </p:sp>
      <p:sp>
        <p:nvSpPr>
          <p:cNvPr id="34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35" name="Text 2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CONTEXT AND UNDERSTANDING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 Operator journey, combined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seven booking operator journeys, in one map — manage the queue, validate and create the booking, then handle what follows.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03066" cy="868680"/>
          </a:xfrm>
          <a:prstGeom prst="roundRect">
            <a:avLst>
              <a:gd name="adj" fmla="val 10526"/>
            </a:avLst>
          </a:prstGeom>
          <a:solidFill>
            <a:srgbClr val="2B3797"/>
          </a:solidFill>
          <a:ln/>
        </p:spPr>
      </p:sp>
      <p:pic>
        <p:nvPicPr>
          <p:cNvPr id="6" name="Image 0" descr="/Users/mohit.kanwar_1/projects/Accomodation-Booking-Solution/deck/assets/icons/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42516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43584" y="1600200"/>
            <a:ext cx="26709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booking queue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069994" y="1933956"/>
            <a:ext cx="256032" cy="201168"/>
          </a:xfrm>
          <a:prstGeom prst="rightArrow">
            <a:avLst/>
          </a:prstGeom>
          <a:solidFill>
            <a:srgbClr val="C9CEE8"/>
          </a:solidFill>
          <a:ln/>
        </p:spPr>
      </p:sp>
      <p:sp>
        <p:nvSpPr>
          <p:cNvPr id="9" name="Shape 6"/>
          <p:cNvSpPr/>
          <p:nvPr/>
        </p:nvSpPr>
        <p:spPr>
          <a:xfrm>
            <a:off x="4344314" y="1600200"/>
            <a:ext cx="3503066" cy="868680"/>
          </a:xfrm>
          <a:prstGeom prst="roundRect">
            <a:avLst>
              <a:gd name="adj" fmla="val 10526"/>
            </a:avLst>
          </a:prstGeom>
          <a:solidFill>
            <a:srgbClr val="2B3797"/>
          </a:solidFill>
          <a:ln/>
        </p:spPr>
      </p:sp>
      <p:pic>
        <p:nvPicPr>
          <p:cNvPr id="10" name="Image 1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5482" y="1842516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039258" y="1600200"/>
            <a:ext cx="26709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create booking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7865669" y="1933956"/>
            <a:ext cx="256032" cy="201168"/>
          </a:xfrm>
          <a:prstGeom prst="rightArrow">
            <a:avLst/>
          </a:prstGeom>
          <a:solidFill>
            <a:srgbClr val="C9CEE8"/>
          </a:solidFill>
          <a:ln/>
        </p:spPr>
      </p:sp>
      <p:sp>
        <p:nvSpPr>
          <p:cNvPr id="13" name="Shape 9"/>
          <p:cNvSpPr/>
          <p:nvPr/>
        </p:nvSpPr>
        <p:spPr>
          <a:xfrm>
            <a:off x="8139989" y="1600200"/>
            <a:ext cx="3503066" cy="868680"/>
          </a:xfrm>
          <a:prstGeom prst="roundRect">
            <a:avLst>
              <a:gd name="adj" fmla="val 10526"/>
            </a:avLst>
          </a:prstGeom>
          <a:solidFill>
            <a:srgbClr val="187A5A"/>
          </a:solidFill>
          <a:ln/>
        </p:spPr>
      </p:sp>
      <p:pic>
        <p:nvPicPr>
          <p:cNvPr id="14" name="Image 2" descr="/Users/mohit.kanwar_1/projects/Accomodation-Booking-Solution/deck/assets/icons/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1157" y="1842516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834933" y="1600200"/>
            <a:ext cx="26709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confirmed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095848" y="2468880"/>
            <a:ext cx="0" cy="210312"/>
          </a:xfrm>
          <a:prstGeom prst="line">
            <a:avLst/>
          </a:prstGeom>
          <a:noFill/>
          <a:ln w="25400">
            <a:solidFill>
              <a:srgbClr val="C9CEE8"/>
            </a:solidFill>
            <a:prstDash val="dash"/>
          </a:ln>
        </p:spPr>
      </p:sp>
      <p:sp>
        <p:nvSpPr>
          <p:cNvPr id="17" name="Text 12"/>
          <p:cNvSpPr/>
          <p:nvPr/>
        </p:nvSpPr>
        <p:spPr>
          <a:xfrm>
            <a:off x="548640" y="27249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CHANGES DURING BOOKING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3063240"/>
            <a:ext cx="5410048" cy="1051560"/>
          </a:xfrm>
          <a:prstGeom prst="roundRect">
            <a:avLst>
              <a:gd name="adj" fmla="val 6957"/>
            </a:avLst>
          </a:prstGeom>
          <a:solidFill>
            <a:srgbClr val="F5F6FC"/>
          </a:solidFill>
          <a:ln/>
        </p:spPr>
      </p:sp>
      <p:sp>
        <p:nvSpPr>
          <p:cNvPr id="19" name="Shape 14"/>
          <p:cNvSpPr/>
          <p:nvPr/>
        </p:nvSpPr>
        <p:spPr>
          <a:xfrm>
            <a:off x="3034208" y="3154680"/>
            <a:ext cx="438912" cy="438912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0" name="Image 3" descr="/Users/mohit.kanwar_1/projects/Accomodation-Booking-Solution/deck/assets/icons/refreshC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3936" y="3264408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58368" y="3630168"/>
            <a:ext cx="519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a changed price or offer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6233008" y="3063240"/>
            <a:ext cx="5410048" cy="1051560"/>
          </a:xfrm>
          <a:prstGeom prst="roundRect">
            <a:avLst>
              <a:gd name="adj" fmla="val 6957"/>
            </a:avLst>
          </a:prstGeom>
          <a:solidFill>
            <a:srgbClr val="F5F6FC"/>
          </a:solidFill>
          <a:ln/>
        </p:spPr>
      </p:sp>
      <p:sp>
        <p:nvSpPr>
          <p:cNvPr id="23" name="Shape 17"/>
          <p:cNvSpPr/>
          <p:nvPr/>
        </p:nvSpPr>
        <p:spPr>
          <a:xfrm>
            <a:off x="8718575" y="3154680"/>
            <a:ext cx="438912" cy="438912"/>
          </a:xfrm>
          <a:prstGeom prst="ellipse">
            <a:avLst/>
          </a:prstGeom>
          <a:solidFill>
            <a:srgbClr val="9A5A00"/>
          </a:solidFill>
          <a:ln/>
        </p:spPr>
      </p:sp>
      <p:pic>
        <p:nvPicPr>
          <p:cNvPr id="24" name="Image 4" descr="/Users/mohit.kanwar_1/projects/Accomodation-Booking-Solution/deck/assets/icons/alertTriang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8303" y="3264408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6342736" y="3630168"/>
            <a:ext cx="519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 failed or uncertain booking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9891522" y="2468880"/>
            <a:ext cx="0" cy="1920240"/>
          </a:xfrm>
          <a:prstGeom prst="line">
            <a:avLst/>
          </a:prstGeom>
          <a:noFill/>
          <a:ln w="25400">
            <a:solidFill>
              <a:srgbClr val="C9CEE8"/>
            </a:solidFill>
            <a:prstDash val="dash"/>
          </a:ln>
        </p:spPr>
      </p:sp>
      <p:sp>
        <p:nvSpPr>
          <p:cNvPr id="27" name="Text 20"/>
          <p:cNvSpPr/>
          <p:nvPr/>
        </p:nvSpPr>
        <p:spPr>
          <a:xfrm>
            <a:off x="548640" y="44348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8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OPERATOR RESPONSIBILITIES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548640" y="4773168"/>
            <a:ext cx="3515258" cy="1051560"/>
          </a:xfrm>
          <a:prstGeom prst="roundRect">
            <a:avLst>
              <a:gd name="adj" fmla="val 6957"/>
            </a:avLst>
          </a:prstGeom>
          <a:solidFill>
            <a:srgbClr val="F5F6FC"/>
          </a:solidFill>
          <a:ln/>
        </p:spPr>
      </p:sp>
      <p:sp>
        <p:nvSpPr>
          <p:cNvPr id="29" name="Shape 22"/>
          <p:cNvSpPr/>
          <p:nvPr/>
        </p:nvSpPr>
        <p:spPr>
          <a:xfrm>
            <a:off x="2086813" y="4864608"/>
            <a:ext cx="438912" cy="438912"/>
          </a:xfrm>
          <a:prstGeom prst="ellipse">
            <a:avLst/>
          </a:prstGeom>
          <a:solidFill>
            <a:srgbClr val="187A5A"/>
          </a:solidFill>
          <a:ln/>
        </p:spPr>
      </p:sp>
      <p:pic>
        <p:nvPicPr>
          <p:cNvPr id="30" name="Image 5" descr="/Users/mohit.kanwar_1/projects/Accomodation-Booking-Solution/deck/assets/icons/fileTex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6541" y="4974336"/>
            <a:ext cx="219456" cy="21945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58368" y="5340096"/>
            <a:ext cx="32958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Amend or cancel a reservation</a:t>
            </a:r>
            <a:endParaRPr lang="en-US" sz="1050" dirty="0"/>
          </a:p>
        </p:txBody>
      </p:sp>
      <p:sp>
        <p:nvSpPr>
          <p:cNvPr id="32" name="Shape 24"/>
          <p:cNvSpPr/>
          <p:nvPr/>
        </p:nvSpPr>
        <p:spPr>
          <a:xfrm>
            <a:off x="4338218" y="4773168"/>
            <a:ext cx="3515258" cy="1051560"/>
          </a:xfrm>
          <a:prstGeom prst="roundRect">
            <a:avLst>
              <a:gd name="adj" fmla="val 6957"/>
            </a:avLst>
          </a:prstGeom>
          <a:solidFill>
            <a:srgbClr val="F5F6FC"/>
          </a:solidFill>
          <a:ln/>
        </p:spPr>
      </p:sp>
      <p:sp>
        <p:nvSpPr>
          <p:cNvPr id="33" name="Shape 25"/>
          <p:cNvSpPr/>
          <p:nvPr/>
        </p:nvSpPr>
        <p:spPr>
          <a:xfrm>
            <a:off x="5876392" y="4864608"/>
            <a:ext cx="438912" cy="438912"/>
          </a:xfrm>
          <a:prstGeom prst="ellipse">
            <a:avLst/>
          </a:prstGeom>
          <a:solidFill>
            <a:srgbClr val="9A5A00"/>
          </a:solidFill>
          <a:ln/>
        </p:spPr>
      </p:sp>
      <p:pic>
        <p:nvPicPr>
          <p:cNvPr id="34" name="Image 6" descr="/Users/mohit.kanwar_1/projects/Accomodation-Booking-Solution/deck/assets/icons/help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6120" y="4974336"/>
            <a:ext cx="219456" cy="219456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4447946" y="5340096"/>
            <a:ext cx="32958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 booking issue</a:t>
            </a:r>
            <a:endParaRPr lang="en-US" sz="1050" dirty="0"/>
          </a:p>
        </p:txBody>
      </p:sp>
      <p:sp>
        <p:nvSpPr>
          <p:cNvPr id="36" name="Shape 27"/>
          <p:cNvSpPr/>
          <p:nvPr/>
        </p:nvSpPr>
        <p:spPr>
          <a:xfrm>
            <a:off x="8127797" y="4773168"/>
            <a:ext cx="3515258" cy="1051560"/>
          </a:xfrm>
          <a:prstGeom prst="roundRect">
            <a:avLst>
              <a:gd name="adj" fmla="val 6957"/>
            </a:avLst>
          </a:prstGeom>
          <a:solidFill>
            <a:srgbClr val="F5F6FC"/>
          </a:solidFill>
          <a:ln/>
        </p:spPr>
      </p:sp>
      <p:sp>
        <p:nvSpPr>
          <p:cNvPr id="37" name="Shape 28"/>
          <p:cNvSpPr/>
          <p:nvPr/>
        </p:nvSpPr>
        <p:spPr>
          <a:xfrm>
            <a:off x="9665970" y="4864608"/>
            <a:ext cx="438912" cy="438912"/>
          </a:xfrm>
          <a:prstGeom prst="ellipse">
            <a:avLst/>
          </a:prstGeom>
          <a:solidFill>
            <a:srgbClr val="187A5A"/>
          </a:solidFill>
          <a:ln/>
        </p:spPr>
      </p:sp>
      <p:pic>
        <p:nvPicPr>
          <p:cNvPr id="38" name="Image 7" descr="/Users/mohit.kanwar_1/projects/Accomodation-Booking-Solution/deck/assets/icons/userChec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75698" y="4974336"/>
            <a:ext cx="219456" cy="219456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8237525" y="5340096"/>
            <a:ext cx="32958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request on behalf of a traveller</a:t>
            </a:r>
            <a:endParaRPr lang="en-US" sz="1050" dirty="0"/>
          </a:p>
        </p:txBody>
      </p:sp>
      <p:sp>
        <p:nvSpPr>
          <p:cNvPr id="40" name="Text 3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41" name="Text 31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CONTEXT AND UNDERSTANDING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Accommodation Provider Agent journey, combined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provider agent journeys, in one map — configure the property, fulfil the stay, then follow through.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03066" cy="868680"/>
          </a:xfrm>
          <a:prstGeom prst="roundRect">
            <a:avLst>
              <a:gd name="adj" fmla="val 10526"/>
            </a:avLst>
          </a:prstGeom>
          <a:solidFill>
            <a:srgbClr val="2B3797"/>
          </a:solidFill>
          <a:ln/>
        </p:spPr>
      </p:sp>
      <p:pic>
        <p:nvPicPr>
          <p:cNvPr id="6" name="Image 0" descr="/Users/mohit.kanwar_1/projects/Accomodation-Booking-Solution/deck/assets/icons/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42516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43584" y="1600200"/>
            <a:ext cx="26709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configuration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069994" y="1933956"/>
            <a:ext cx="256032" cy="201168"/>
          </a:xfrm>
          <a:prstGeom prst="rightArrow">
            <a:avLst/>
          </a:prstGeom>
          <a:solidFill>
            <a:srgbClr val="C9CEE8"/>
          </a:solidFill>
          <a:ln/>
        </p:spPr>
      </p:sp>
      <p:sp>
        <p:nvSpPr>
          <p:cNvPr id="9" name="Shape 6"/>
          <p:cNvSpPr/>
          <p:nvPr/>
        </p:nvSpPr>
        <p:spPr>
          <a:xfrm>
            <a:off x="4344314" y="1600200"/>
            <a:ext cx="3503066" cy="868680"/>
          </a:xfrm>
          <a:prstGeom prst="roundRect">
            <a:avLst>
              <a:gd name="adj" fmla="val 10526"/>
            </a:avLst>
          </a:prstGeom>
          <a:solidFill>
            <a:srgbClr val="2B3797"/>
          </a:solidFill>
          <a:ln/>
        </p:spPr>
      </p:sp>
      <p:pic>
        <p:nvPicPr>
          <p:cNvPr id="10" name="Image 1" descr="/Users/mohit.kanwar_1/projects/Accomodation-Booking-Solution/deck/assets/icons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5482" y="1842516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039258" y="1600200"/>
            <a:ext cx="26709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&amp; fulfil reservation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7865669" y="1933956"/>
            <a:ext cx="256032" cy="201168"/>
          </a:xfrm>
          <a:prstGeom prst="rightArrow">
            <a:avLst/>
          </a:prstGeom>
          <a:solidFill>
            <a:srgbClr val="C9CEE8"/>
          </a:solidFill>
          <a:ln/>
        </p:spPr>
      </p:sp>
      <p:sp>
        <p:nvSpPr>
          <p:cNvPr id="13" name="Shape 9"/>
          <p:cNvSpPr/>
          <p:nvPr/>
        </p:nvSpPr>
        <p:spPr>
          <a:xfrm>
            <a:off x="8139989" y="1600200"/>
            <a:ext cx="3503066" cy="868680"/>
          </a:xfrm>
          <a:prstGeom prst="roundRect">
            <a:avLst>
              <a:gd name="adj" fmla="val 10526"/>
            </a:avLst>
          </a:prstGeom>
          <a:solidFill>
            <a:srgbClr val="187A5A"/>
          </a:solidFill>
          <a:ln/>
        </p:spPr>
      </p:sp>
      <p:pic>
        <p:nvPicPr>
          <p:cNvPr id="14" name="Image 2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1157" y="1842516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834933" y="1600200"/>
            <a:ext cx="26709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complete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095848" y="2468880"/>
            <a:ext cx="0" cy="210312"/>
          </a:xfrm>
          <a:prstGeom prst="line">
            <a:avLst/>
          </a:prstGeom>
          <a:noFill/>
          <a:ln w="25400">
            <a:solidFill>
              <a:srgbClr val="C9CEE8"/>
            </a:solidFill>
            <a:prstDash val="dash"/>
          </a:ln>
        </p:spPr>
      </p:sp>
      <p:sp>
        <p:nvSpPr>
          <p:cNvPr id="17" name="Text 12"/>
          <p:cNvSpPr/>
          <p:nvPr/>
        </p:nvSpPr>
        <p:spPr>
          <a:xfrm>
            <a:off x="548640" y="27249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STAY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3063240"/>
            <a:ext cx="5410048" cy="1051560"/>
          </a:xfrm>
          <a:prstGeom prst="roundRect">
            <a:avLst>
              <a:gd name="adj" fmla="val 6957"/>
            </a:avLst>
          </a:prstGeom>
          <a:solidFill>
            <a:srgbClr val="F5F6FC"/>
          </a:solidFill>
          <a:ln/>
        </p:spPr>
      </p:sp>
      <p:sp>
        <p:nvSpPr>
          <p:cNvPr id="19" name="Shape 14"/>
          <p:cNvSpPr/>
          <p:nvPr/>
        </p:nvSpPr>
        <p:spPr>
          <a:xfrm>
            <a:off x="3034208" y="3154680"/>
            <a:ext cx="438912" cy="438912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0" name="Image 3" descr="/Users/mohit.kanwar_1/projects/Accomodation-Booking-Solution/deck/assets/icons/fileTex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3936" y="3264408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58368" y="3630168"/>
            <a:ext cx="519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an amendment or cancellation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6233008" y="3063240"/>
            <a:ext cx="5410048" cy="1051560"/>
          </a:xfrm>
          <a:prstGeom prst="roundRect">
            <a:avLst>
              <a:gd name="adj" fmla="val 6957"/>
            </a:avLst>
          </a:prstGeom>
          <a:solidFill>
            <a:srgbClr val="F5F6FC"/>
          </a:solidFill>
          <a:ln/>
        </p:spPr>
      </p:sp>
      <p:sp>
        <p:nvSpPr>
          <p:cNvPr id="23" name="Shape 17"/>
          <p:cNvSpPr/>
          <p:nvPr/>
        </p:nvSpPr>
        <p:spPr>
          <a:xfrm>
            <a:off x="8718575" y="3154680"/>
            <a:ext cx="438912" cy="438912"/>
          </a:xfrm>
          <a:prstGeom prst="ellipse">
            <a:avLst/>
          </a:prstGeom>
          <a:solidFill>
            <a:srgbClr val="9A5A00"/>
          </a:solidFill>
          <a:ln/>
        </p:spPr>
      </p:sp>
      <p:pic>
        <p:nvPicPr>
          <p:cNvPr id="24" name="Image 4" descr="/Users/mohit.kanwar_1/projects/Accomodation-Booking-Solution/deck/assets/icons/help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8303" y="3264408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6342736" y="3630168"/>
            <a:ext cx="519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booking support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9891522" y="2468880"/>
            <a:ext cx="0" cy="1920240"/>
          </a:xfrm>
          <a:prstGeom prst="line">
            <a:avLst/>
          </a:prstGeom>
          <a:noFill/>
          <a:ln w="25400">
            <a:solidFill>
              <a:srgbClr val="C9CEE8"/>
            </a:solidFill>
            <a:prstDash val="dash"/>
          </a:ln>
        </p:spPr>
      </p:sp>
      <p:sp>
        <p:nvSpPr>
          <p:cNvPr id="27" name="Text 20"/>
          <p:cNvSpPr/>
          <p:nvPr/>
        </p:nvSpPr>
        <p:spPr>
          <a:xfrm>
            <a:off x="548640" y="44348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8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STAY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548640" y="4773168"/>
            <a:ext cx="5410048" cy="1051560"/>
          </a:xfrm>
          <a:prstGeom prst="roundRect">
            <a:avLst>
              <a:gd name="adj" fmla="val 6957"/>
            </a:avLst>
          </a:prstGeom>
          <a:solidFill>
            <a:srgbClr val="F5F6FC"/>
          </a:solidFill>
          <a:ln/>
        </p:spPr>
      </p:sp>
      <p:sp>
        <p:nvSpPr>
          <p:cNvPr id="29" name="Shape 22"/>
          <p:cNvSpPr/>
          <p:nvPr/>
        </p:nvSpPr>
        <p:spPr>
          <a:xfrm>
            <a:off x="3034208" y="4864608"/>
            <a:ext cx="438912" cy="438912"/>
          </a:xfrm>
          <a:prstGeom prst="ellipse">
            <a:avLst/>
          </a:prstGeom>
          <a:solidFill>
            <a:srgbClr val="187A5A"/>
          </a:solidFill>
          <a:ln/>
        </p:spPr>
      </p:sp>
      <p:pic>
        <p:nvPicPr>
          <p:cNvPr id="30" name="Image 5" descr="/Users/mohit.kanwar_1/projects/Accomodation-Booking-Solution/deck/assets/icons/dollarSig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3936" y="4974336"/>
            <a:ext cx="219456" cy="21945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58368" y="5340096"/>
            <a:ext cx="519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invoices &amp; settlement information</a:t>
            </a:r>
            <a:endParaRPr lang="en-US" sz="1050" dirty="0"/>
          </a:p>
        </p:txBody>
      </p:sp>
      <p:sp>
        <p:nvSpPr>
          <p:cNvPr id="32" name="Shape 24"/>
          <p:cNvSpPr/>
          <p:nvPr/>
        </p:nvSpPr>
        <p:spPr>
          <a:xfrm>
            <a:off x="6233008" y="4773168"/>
            <a:ext cx="5410048" cy="1051560"/>
          </a:xfrm>
          <a:prstGeom prst="roundRect">
            <a:avLst>
              <a:gd name="adj" fmla="val 6957"/>
            </a:avLst>
          </a:prstGeom>
          <a:solidFill>
            <a:srgbClr val="F5F6FC"/>
          </a:solidFill>
          <a:ln/>
        </p:spPr>
      </p:sp>
      <p:sp>
        <p:nvSpPr>
          <p:cNvPr id="33" name="Shape 25"/>
          <p:cNvSpPr/>
          <p:nvPr/>
        </p:nvSpPr>
        <p:spPr>
          <a:xfrm>
            <a:off x="8718575" y="4864608"/>
            <a:ext cx="438912" cy="438912"/>
          </a:xfrm>
          <a:prstGeom prst="ellipse">
            <a:avLst/>
          </a:prstGeom>
          <a:solidFill>
            <a:srgbClr val="187A5A"/>
          </a:solidFill>
          <a:ln/>
        </p:spPr>
      </p:sp>
      <p:pic>
        <p:nvPicPr>
          <p:cNvPr id="34" name="Image 6" descr="/Users/mohit.kanwar_1/projects/Accomodation-Booking-Solution/deck/assets/icons/refreshC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28303" y="4974336"/>
            <a:ext cx="219456" cy="219456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6342736" y="5340096"/>
            <a:ext cx="519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 reconciliation discrepancy</a:t>
            </a:r>
            <a:endParaRPr lang="en-US" sz="1050" dirty="0"/>
          </a:p>
        </p:txBody>
      </p:sp>
      <p:sp>
        <p:nvSpPr>
          <p:cNvPr id="36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37" name="Text 2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CONTEXT AND UNDERSTANDING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Corporate Administrator capabilities, combined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seven corporate administrator journeys, in one map — grouped by what they manage, not a single sequence.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084168" y="182880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202A78"/>
          </a:solidFill>
          <a:ln/>
        </p:spPr>
      </p:sp>
      <p:pic>
        <p:nvPicPr>
          <p:cNvPr id="6" name="Image 0" descr="/Users/mohit.kanwar_1/projects/Accomodation-Booking-Solution/deck/assets/icons/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0200" y="201625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879696" y="1828800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Administrator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095848" y="2606040"/>
            <a:ext cx="-2887904" cy="457200"/>
          </a:xfrm>
          <a:prstGeom prst="line">
            <a:avLst/>
          </a:prstGeom>
          <a:noFill/>
          <a:ln w="25400">
            <a:solidFill>
              <a:srgbClr val="C9CEE8"/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548640" y="3063240"/>
            <a:ext cx="5318608" cy="3063240"/>
          </a:xfrm>
          <a:prstGeom prst="roundRect">
            <a:avLst>
              <a:gd name="adj" fmla="val 2985"/>
            </a:avLst>
          </a:prstGeom>
          <a:solidFill>
            <a:srgbClr val="F5F6FC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324612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&amp; ACCESS CONFIGURATION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59536" y="3790188"/>
            <a:ext cx="384048" cy="384048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2" name="Image 1" descr="/Users/mohit.kanwar_1/projects/Accomodation-Booking-Solution/deck/assets/icons/clip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" y="3886200"/>
            <a:ext cx="192024" cy="1920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89888" y="3703320"/>
            <a:ext cx="422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travel policies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59536" y="4384548"/>
            <a:ext cx="384048" cy="384048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5" name="Image 2" descr="/Users/mohit.kanwar_1/projects/Accomodation-Booking-Solution/deck/assets/icons/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" y="4480560"/>
            <a:ext cx="192024" cy="19202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89888" y="4297680"/>
            <a:ext cx="422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corporate roles &amp; assignments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859536" y="4978908"/>
            <a:ext cx="384048" cy="384048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8" name="Image 3" descr="/Users/mohit.kanwar_1/projects/Accomodation-Booking-Solution/deck/assets/icons/mapP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" y="5074920"/>
            <a:ext cx="192024" cy="19202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89888" y="4892040"/>
            <a:ext cx="422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destinations &amp; corporate sites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859536" y="5573268"/>
            <a:ext cx="384048" cy="384048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1" name="Image 4" descr="/Users/mohit.kanwar_1/projects/Accomodation-Booking-Solution/deck/assets/icons/dollarSig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548" y="5669280"/>
            <a:ext cx="192024" cy="19202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389888" y="5486400"/>
            <a:ext cx="422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price ranges &amp; exceptions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6095848" y="2606040"/>
            <a:ext cx="2887904" cy="457200"/>
          </a:xfrm>
          <a:prstGeom prst="line">
            <a:avLst/>
          </a:prstGeom>
          <a:noFill/>
          <a:ln w="25400">
            <a:solidFill>
              <a:srgbClr val="C9CEE8"/>
            </a:solidFill>
            <a:prstDash val="dash"/>
          </a:ln>
        </p:spPr>
      </p:sp>
      <p:sp>
        <p:nvSpPr>
          <p:cNvPr id="24" name="Shape 17"/>
          <p:cNvSpPr/>
          <p:nvPr/>
        </p:nvSpPr>
        <p:spPr>
          <a:xfrm>
            <a:off x="6324448" y="3063240"/>
            <a:ext cx="5318608" cy="3063240"/>
          </a:xfrm>
          <a:prstGeom prst="roundRect">
            <a:avLst>
              <a:gd name="adj" fmla="val 2985"/>
            </a:avLst>
          </a:prstGeom>
          <a:solidFill>
            <a:srgbClr val="F5F6FC"/>
          </a:solidFill>
          <a:ln/>
        </p:spPr>
      </p:sp>
      <p:sp>
        <p:nvSpPr>
          <p:cNvPr id="25" name="Text 18"/>
          <p:cNvSpPr/>
          <p:nvPr/>
        </p:nvSpPr>
        <p:spPr>
          <a:xfrm>
            <a:off x="6598768" y="324612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8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&amp; REPORTING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635344" y="3889248"/>
            <a:ext cx="384048" cy="384048"/>
          </a:xfrm>
          <a:prstGeom prst="ellipse">
            <a:avLst/>
          </a:prstGeom>
          <a:solidFill>
            <a:srgbClr val="187A5A"/>
          </a:solidFill>
          <a:ln/>
        </p:spPr>
      </p:sp>
      <p:pic>
        <p:nvPicPr>
          <p:cNvPr id="27" name="Image 5" descr="/Users/mohit.kanwar_1/projects/Accomodation-Booking-Solution/deck/assets/icons/fileTex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356" y="3985260"/>
            <a:ext cx="192024" cy="19202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165696" y="3703320"/>
            <a:ext cx="4221328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accommodation bills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6635344" y="4681728"/>
            <a:ext cx="384048" cy="384048"/>
          </a:xfrm>
          <a:prstGeom prst="ellipse">
            <a:avLst/>
          </a:prstGeom>
          <a:solidFill>
            <a:srgbClr val="187A5A"/>
          </a:solidFill>
          <a:ln/>
        </p:spPr>
      </p:sp>
      <p:pic>
        <p:nvPicPr>
          <p:cNvPr id="30" name="Image 6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1356" y="4777740"/>
            <a:ext cx="192024" cy="192024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7165696" y="4495800"/>
            <a:ext cx="4221328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and make payments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635344" y="5474208"/>
            <a:ext cx="384048" cy="384048"/>
          </a:xfrm>
          <a:prstGeom prst="ellipse">
            <a:avLst/>
          </a:prstGeom>
          <a:solidFill>
            <a:srgbClr val="187A5A"/>
          </a:solidFill>
          <a:ln/>
        </p:spPr>
      </p:sp>
      <p:pic>
        <p:nvPicPr>
          <p:cNvPr id="33" name="Image 7" descr="/Users/mohit.kanwar_1/projects/Accomodation-Booking-Solution/deck/assets/icons/barChar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1356" y="5570220"/>
            <a:ext cx="192024" cy="192024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7165696" y="5288280"/>
            <a:ext cx="4221328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spend, compliance &amp; audit reports</a:t>
            </a:r>
            <a:endParaRPr lang="en-US" sz="1200" dirty="0"/>
          </a:p>
        </p:txBody>
      </p:sp>
      <p:sp>
        <p:nvSpPr>
          <p:cNvPr id="35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36" name="Text 2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CONTEXT AND UNDERSTANDING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Sodexo Administrator capabilities, combined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seven Sodexo administrator journeys, in one map — grouped by what they manage, not a single sequence.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084168" y="182880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202A78"/>
          </a:solidFill>
          <a:ln/>
        </p:spPr>
      </p:sp>
      <p:pic>
        <p:nvPicPr>
          <p:cNvPr id="6" name="Image 0" descr="/Users/mohit.kanwar_1/projects/Accomodation-Booking-Solution/deck/assets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0200" y="201625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879696" y="1828800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Sodexo Administrator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095848" y="2606040"/>
            <a:ext cx="-2887904" cy="457200"/>
          </a:xfrm>
          <a:prstGeom prst="line">
            <a:avLst/>
          </a:prstGeom>
          <a:noFill/>
          <a:ln w="25400">
            <a:solidFill>
              <a:srgbClr val="C9CEE8"/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548640" y="3063240"/>
            <a:ext cx="5318608" cy="3063240"/>
          </a:xfrm>
          <a:prstGeom prst="roundRect">
            <a:avLst>
              <a:gd name="adj" fmla="val 2985"/>
            </a:avLst>
          </a:prstGeom>
          <a:solidFill>
            <a:srgbClr val="F5F6FC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324612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&amp; CONFIGURE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59536" y="3889248"/>
            <a:ext cx="384048" cy="384048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2" name="Image 1" descr="/Users/mohit.kanwar_1/projects/Accomodation-Booking-Solution/deck/assets/icons/fla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" y="3985260"/>
            <a:ext cx="192024" cy="1920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89888" y="3703320"/>
            <a:ext cx="4221328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a corporate tenant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59536" y="4681728"/>
            <a:ext cx="384048" cy="384048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5" name="Image 2" descr="/Users/mohit.kanwar_1/projects/Accomodation-Booking-Solution/deck/assets/icons/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" y="4777740"/>
            <a:ext cx="192024" cy="19202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89888" y="4495800"/>
            <a:ext cx="4221328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platform roles &amp; access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859536" y="5474208"/>
            <a:ext cx="384048" cy="384048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8" name="Image 3" descr="/Users/mohit.kanwar_1/projects/Accomodation-Booking-Solution/deck/assets/icons/l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" y="5570220"/>
            <a:ext cx="192024" cy="19202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89888" y="5288280"/>
            <a:ext cx="4221328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supplier integrations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095848" y="2606040"/>
            <a:ext cx="2887904" cy="457200"/>
          </a:xfrm>
          <a:prstGeom prst="line">
            <a:avLst/>
          </a:prstGeom>
          <a:noFill/>
          <a:ln w="25400">
            <a:solidFill>
              <a:srgbClr val="C9CEE8"/>
            </a:solidFill>
            <a:prstDash val="dash"/>
          </a:ln>
        </p:spPr>
      </p:sp>
      <p:sp>
        <p:nvSpPr>
          <p:cNvPr id="21" name="Shape 15"/>
          <p:cNvSpPr/>
          <p:nvPr/>
        </p:nvSpPr>
        <p:spPr>
          <a:xfrm>
            <a:off x="6324448" y="3063240"/>
            <a:ext cx="5318608" cy="3063240"/>
          </a:xfrm>
          <a:prstGeom prst="roundRect">
            <a:avLst>
              <a:gd name="adj" fmla="val 2985"/>
            </a:avLst>
          </a:prstGeom>
          <a:solidFill>
            <a:srgbClr val="F5F6FC"/>
          </a:solidFill>
          <a:ln/>
        </p:spPr>
      </p:sp>
      <p:sp>
        <p:nvSpPr>
          <p:cNvPr id="22" name="Text 16"/>
          <p:cNvSpPr/>
          <p:nvPr/>
        </p:nvSpPr>
        <p:spPr>
          <a:xfrm>
            <a:off x="6598768" y="324612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8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 &amp; SUPPORT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6635344" y="3790188"/>
            <a:ext cx="384048" cy="384048"/>
          </a:xfrm>
          <a:prstGeom prst="ellipse">
            <a:avLst/>
          </a:prstGeom>
          <a:solidFill>
            <a:srgbClr val="187A5A"/>
          </a:solidFill>
          <a:ln/>
        </p:spPr>
      </p:sp>
      <p:pic>
        <p:nvPicPr>
          <p:cNvPr id="24" name="Image 4" descr="/Users/mohit.kanwar_1/projects/Accomodation-Booking-Solution/deck/assets/icons/ey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356" y="3886200"/>
            <a:ext cx="192024" cy="19202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165696" y="3703320"/>
            <a:ext cx="422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booking &amp; approval operations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6635344" y="4384548"/>
            <a:ext cx="384048" cy="384048"/>
          </a:xfrm>
          <a:prstGeom prst="ellipse">
            <a:avLst/>
          </a:prstGeom>
          <a:solidFill>
            <a:srgbClr val="187A5A"/>
          </a:solidFill>
          <a:ln/>
        </p:spPr>
      </p:sp>
      <p:pic>
        <p:nvPicPr>
          <p:cNvPr id="27" name="Image 5" descr="/Users/mohit.kanwar_1/projects/Accomodation-Booking-Solution/deck/assets/icons/refreshC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356" y="4480560"/>
            <a:ext cx="192024" cy="19202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165696" y="4297680"/>
            <a:ext cx="422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reconciliation exceptions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6635344" y="4978908"/>
            <a:ext cx="384048" cy="384048"/>
          </a:xfrm>
          <a:prstGeom prst="ellipse">
            <a:avLst/>
          </a:prstGeom>
          <a:solidFill>
            <a:srgbClr val="187A5A"/>
          </a:solidFill>
          <a:ln/>
        </p:spPr>
      </p:sp>
      <p:pic>
        <p:nvPicPr>
          <p:cNvPr id="30" name="Image 6" descr="/Users/mohit.kanwar_1/projects/Accomodation-Booking-Solution/deck/assets/icons/barChar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1356" y="5074920"/>
            <a:ext cx="192024" cy="192024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7165696" y="4892040"/>
            <a:ext cx="422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operational &amp; audit reports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635344" y="5573268"/>
            <a:ext cx="384048" cy="384048"/>
          </a:xfrm>
          <a:prstGeom prst="ellipse">
            <a:avLst/>
          </a:prstGeom>
          <a:solidFill>
            <a:srgbClr val="187A5A"/>
          </a:solidFill>
          <a:ln/>
        </p:spPr>
      </p:sp>
      <p:pic>
        <p:nvPicPr>
          <p:cNvPr id="33" name="Image 7" descr="/Users/mohit.kanwar_1/projects/Accomodation-Booking-Solution/deck/assets/icons/helpCirc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1356" y="5669280"/>
            <a:ext cx="192024" cy="192024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7165696" y="5486400"/>
            <a:ext cx="422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a controlled investigation</a:t>
            </a:r>
            <a:endParaRPr lang="en-US" sz="1200" dirty="0"/>
          </a:p>
        </p:txBody>
      </p:sp>
      <p:sp>
        <p:nvSpPr>
          <p:cNvPr id="35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36" name="Text 2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CONTEXT AND UNDERSTANDING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context, simplified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691640"/>
            <a:ext cx="1609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Users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Traveller, Approver, Admin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2B3797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743200"/>
            <a:ext cx="1609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Sodexo Users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Admin, Operator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80360" y="169164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</p:sp>
      <p:sp>
        <p:nvSpPr>
          <p:cNvPr id="9" name="Text 7"/>
          <p:cNvSpPr/>
          <p:nvPr/>
        </p:nvSpPr>
        <p:spPr>
          <a:xfrm>
            <a:off x="2990088" y="1691640"/>
            <a:ext cx="1609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Sodexo B2C App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host + Lego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80360" y="2743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2B3797"/>
          </a:solidFill>
          <a:ln/>
        </p:spPr>
      </p:sp>
      <p:sp>
        <p:nvSpPr>
          <p:cNvPr id="11" name="Text 9"/>
          <p:cNvSpPr/>
          <p:nvPr/>
        </p:nvSpPr>
        <p:spPr>
          <a:xfrm>
            <a:off x="2990088" y="2743200"/>
            <a:ext cx="1609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Application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Sodexo employee webapp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21208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ED1C24"/>
          </a:solidFill>
          <a:ln/>
        </p:spPr>
      </p:sp>
      <p:sp>
        <p:nvSpPr>
          <p:cNvPr id="13" name="Text 11"/>
          <p:cNvSpPr/>
          <p:nvPr/>
        </p:nvSpPr>
        <p:spPr>
          <a:xfrm>
            <a:off x="5349240" y="192024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Capability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· policy · approval · booking · admin · audit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01000" y="132588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5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8110728" y="1325880"/>
            <a:ext cx="21579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Employee Context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client, role attributes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01000" y="251460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28" y="2514600"/>
            <a:ext cx="21579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Core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Content, availability, price, orders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01000" y="370332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5F6FC"/>
          </a:solidFill>
          <a:ln/>
        </p:spPr>
      </p:sp>
      <p:sp>
        <p:nvSpPr>
          <p:cNvPr id="19" name="Text 17"/>
          <p:cNvSpPr/>
          <p:nvPr/>
        </p:nvSpPr>
        <p:spPr>
          <a:xfrm>
            <a:off x="8110728" y="3703320"/>
            <a:ext cx="21579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Services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Request, decision, booking updates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377440" y="2080260"/>
            <a:ext cx="502920" cy="0"/>
          </a:xfrm>
          <a:prstGeom prst="line">
            <a:avLst/>
          </a:prstGeom>
          <a:noFill/>
          <a:ln w="25400">
            <a:solidFill>
              <a:srgbClr val="C9CE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77440" y="3131820"/>
            <a:ext cx="502920" cy="0"/>
          </a:xfrm>
          <a:prstGeom prst="line">
            <a:avLst/>
          </a:prstGeom>
          <a:noFill/>
          <a:ln w="25400">
            <a:solidFill>
              <a:srgbClr val="C9CE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09160" y="2080260"/>
            <a:ext cx="502920" cy="251460"/>
          </a:xfrm>
          <a:prstGeom prst="line">
            <a:avLst/>
          </a:prstGeom>
          <a:noFill/>
          <a:ln w="25400">
            <a:solidFill>
              <a:srgbClr val="C9CE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09160" y="3131820"/>
            <a:ext cx="502920" cy="-251460"/>
          </a:xfrm>
          <a:prstGeom prst="line">
            <a:avLst/>
          </a:prstGeom>
          <a:noFill/>
          <a:ln w="25400">
            <a:solidFill>
              <a:srgbClr val="C9CE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0" y="2103120"/>
            <a:ext cx="502920" cy="-297180"/>
          </a:xfrm>
          <a:prstGeom prst="line">
            <a:avLst/>
          </a:prstGeom>
          <a:noFill/>
          <a:ln w="25400">
            <a:solidFill>
              <a:srgbClr val="C9CE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0" y="2606040"/>
            <a:ext cx="502920" cy="388620"/>
          </a:xfrm>
          <a:prstGeom prst="line">
            <a:avLst/>
          </a:prstGeom>
          <a:noFill/>
          <a:ln w="25400">
            <a:solidFill>
              <a:srgbClr val="C9CE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0" y="3108960"/>
            <a:ext cx="502920" cy="1074420"/>
          </a:xfrm>
          <a:prstGeom prst="line">
            <a:avLst/>
          </a:prstGeom>
          <a:noFill/>
          <a:ln w="25400">
            <a:solidFill>
              <a:srgbClr val="C9CE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892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accommodation booking capability is the system in scope. Internal containers and implementation choices are deferred to the architecture views.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CONTEXT AND UNDERSTANDING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first-release boundary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18608" cy="4206240"/>
          </a:xfrm>
          <a:prstGeom prst="roundRect">
            <a:avLst>
              <a:gd name="adj" fmla="val 2174"/>
            </a:avLst>
          </a:prstGeom>
          <a:solidFill>
            <a:srgbClr val="DDF2E9"/>
          </a:solidFill>
          <a:ln/>
        </p:spPr>
      </p:sp>
      <p:sp>
        <p:nvSpPr>
          <p:cNvPr id="5" name="Shape 3"/>
          <p:cNvSpPr/>
          <p:nvPr/>
        </p:nvSpPr>
        <p:spPr>
          <a:xfrm>
            <a:off x="754380" y="1805940"/>
            <a:ext cx="502920" cy="502920"/>
          </a:xfrm>
          <a:prstGeom prst="ellipse">
            <a:avLst/>
          </a:prstGeom>
          <a:solidFill>
            <a:srgbClr val="187A5A"/>
          </a:solidFill>
          <a:ln/>
        </p:spPr>
      </p:sp>
      <p:pic>
        <p:nvPicPr>
          <p:cNvPr id="6" name="Image 0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37" y="1919097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828800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2468880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852928"/>
            <a:ext cx="467852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Destination/site selection and search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List, filter, and map views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result and explanation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submission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queue and decision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Operator-triggered booking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Confirmation, administration, notifications, and audit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24448" y="1600200"/>
            <a:ext cx="5318608" cy="4206240"/>
          </a:xfrm>
          <a:prstGeom prst="roundRect">
            <a:avLst>
              <a:gd name="adj" fmla="val 2174"/>
            </a:avLst>
          </a:prstGeom>
          <a:solidFill>
            <a:srgbClr val="FBDADD"/>
          </a:solidFill>
          <a:ln/>
        </p:spPr>
      </p:sp>
      <p:sp>
        <p:nvSpPr>
          <p:cNvPr id="11" name="Shape 8"/>
          <p:cNvSpPr/>
          <p:nvPr/>
        </p:nvSpPr>
        <p:spPr>
          <a:xfrm>
            <a:off x="6530188" y="1805940"/>
            <a:ext cx="502920" cy="50292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12" name="Image 1" descr="/Users/mohit.kanwar_1/projects/Accomodation-Booking-Solution/deck/assets/icons/alertTriang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345" y="1919097"/>
            <a:ext cx="276606" cy="27660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47408" y="1828800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ASSUMED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644488" y="2468880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644488" y="2852928"/>
            <a:ext cx="467852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self-booking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 or ground transport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or multi-city travel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suppliers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modification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finance reconciliation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379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3017520"/>
            <a:ext cx="5486400" cy="54864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Shape 2"/>
          <p:cNvSpPr/>
          <p:nvPr/>
        </p:nvSpPr>
        <p:spPr>
          <a:xfrm>
            <a:off x="4229100" y="2519172"/>
            <a:ext cx="960120" cy="96012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5" name="Image 0" descr="/Users/mohit.kanwar_1/projects/Accomodation-Booking-Solution/deck/assets/icons/help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9130" y="2759202"/>
            <a:ext cx="480060" cy="4800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49240" y="251460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Discovery Questions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349240" y="3520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DISCOVERY QUESTIONS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and product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842955" y="571500"/>
            <a:ext cx="685800" cy="6858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5" name="Image 0" descr="/Users/mohit.kanwar_1/projects/Accomodation-Booking-Solution/deck/assets/icons/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4405" y="742950"/>
            <a:ext cx="342900" cy="3429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600200"/>
            <a:ext cx="1109441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business outcome and measurable success justify the feature?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supports the accommodation queries — Sodexo, Booking.com, or the accommodation provider?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requester always the traveller, or can someone act on their behalf?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employees submit out-of-policy options, and who approves exceptions?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the employee experience, operator service level, and post-booking support?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countries, sites, languages, and currencies are required first?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 price calculated — taxes, fees, currency conversion, discounts?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white-labelling Booking.com’s services acceptable?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DISCOVERY QUESTIONS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842955" y="571500"/>
            <a:ext cx="685800" cy="685800"/>
          </a:xfrm>
          <a:prstGeom prst="ellipse">
            <a:avLst/>
          </a:prstGeom>
          <a:solidFill>
            <a:srgbClr val="9A5A00"/>
          </a:solidFill>
          <a:ln/>
        </p:spPr>
      </p:sp>
      <p:pic>
        <p:nvPicPr>
          <p:cNvPr id="5" name="Image 0" descr="/Users/mohit.kanwar_1/projects/Accomodation-Booking-Solution/deck/assets/icons/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4405" y="742950"/>
            <a:ext cx="342900" cy="3429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600200"/>
            <a:ext cx="1109441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price cap include taxes and mandatory fees?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cap per room, per traveller, average night, highest night, or total stay?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are foreign currencies converted, and which FX source is approved?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distance, category, breakfast, cancellation, weekend, and max-stay rules mandatory?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price change after approval requires renewed consent?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are policies versioned, dated, overridden, and audited?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DISCOVERY QUESTIONS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Booking, payment, and operations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842955" y="571500"/>
            <a:ext cx="685800" cy="685800"/>
          </a:xfrm>
          <a:prstGeom prst="ellipse">
            <a:avLst/>
          </a:prstGeom>
          <a:solidFill>
            <a:srgbClr val="187A5A"/>
          </a:solidFill>
          <a:ln/>
        </p:spPr>
      </p:sp>
      <p:pic>
        <p:nvPicPr>
          <p:cNvPr id="5" name="Image 0" descr="/Users/mohit.kanwar_1/projects/Accomodation-Booking-Solution/deck/assets/icons/dollarSig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4405" y="742950"/>
            <a:ext cx="342900" cy="3429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600200"/>
            <a:ext cx="1109441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the Booking.com affiliate partner and account owner?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search-look-book enabled contractually for this application?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merchant of record, and who pays — Sodexo, Tetrapak, operator, employee, or hotel?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invoices, refunds, chargebacks, reconciliation, no-shows, and disputes?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an operator do when a booking call times out?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employees cancel, or must all servicing go through an operator?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DISCOVERY QUESTIONS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Platform, data, and security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842955" y="571500"/>
            <a:ext cx="685800" cy="68580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5" name="Image 0" descr="/Users/mohit.kanwar_1/projects/Accomodation-Booking-Solution/deck/assets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4405" y="742950"/>
            <a:ext cx="342900" cy="3429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600200"/>
            <a:ext cx="1109441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trusted claims does the existing B2C authentication provide?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system owns employee role, cost centre, client, and manager?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operator/admin host applications and platform services can be reused?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travel and traveller data may be stored, for how long, and in which region?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volumes, peak searches, booking conversion, and service levels apply?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notification, map, audit, observability, and secret services are standard?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DISCOVERY QUESTIONS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that block readiness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4415" cy="548640"/>
          </a:xfrm>
          <a:prstGeom prst="roundRect">
            <a:avLst>
              <a:gd name="adj" fmla="val 10000"/>
            </a:avLst>
          </a:prstGeom>
          <a:solidFill>
            <a:srgbClr val="202A7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37360"/>
            <a:ext cx="7766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314731" y="1737360"/>
            <a:ext cx="30540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11094415" cy="777240"/>
          </a:xfrm>
          <a:prstGeom prst="rect">
            <a:avLst/>
          </a:prstGeom>
          <a:solidFill>
            <a:srgbClr val="F5F6FC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286000"/>
            <a:ext cx="749177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 commercial / API eligibility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247373" y="247345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4DD"/>
          </a:solidFill>
          <a:ln/>
        </p:spPr>
      </p:sp>
      <p:sp>
        <p:nvSpPr>
          <p:cNvPr id="10" name="Text 8"/>
          <p:cNvSpPr/>
          <p:nvPr/>
        </p:nvSpPr>
        <p:spPr>
          <a:xfrm>
            <a:off x="9247373" y="247345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063240"/>
            <a:ext cx="11094415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063240"/>
            <a:ext cx="749177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and merchant-of-record model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247373" y="325069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4DD"/>
          </a:solidFill>
          <a:ln/>
        </p:spPr>
      </p:sp>
      <p:sp>
        <p:nvSpPr>
          <p:cNvPr id="14" name="Text 12"/>
          <p:cNvSpPr/>
          <p:nvPr/>
        </p:nvSpPr>
        <p:spPr>
          <a:xfrm>
            <a:off x="9247373" y="325069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11094415" cy="777240"/>
          </a:xfrm>
          <a:prstGeom prst="rect">
            <a:avLst/>
          </a:prstGeom>
          <a:solidFill>
            <a:srgbClr val="F5F6FC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840480"/>
            <a:ext cx="749177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policy calculation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247373" y="402793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4DD"/>
          </a:solidFill>
          <a:ln/>
        </p:spPr>
      </p:sp>
      <p:sp>
        <p:nvSpPr>
          <p:cNvPr id="18" name="Text 16"/>
          <p:cNvSpPr/>
          <p:nvPr/>
        </p:nvSpPr>
        <p:spPr>
          <a:xfrm>
            <a:off x="9247373" y="40279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617720"/>
            <a:ext cx="11094415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617720"/>
            <a:ext cx="749177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employee-role source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247373" y="480517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4DD"/>
          </a:solidFill>
          <a:ln/>
        </p:spPr>
      </p:sp>
      <p:sp>
        <p:nvSpPr>
          <p:cNvPr id="22" name="Text 20"/>
          <p:cNvSpPr/>
          <p:nvPr/>
        </p:nvSpPr>
        <p:spPr>
          <a:xfrm>
            <a:off x="9247373" y="480517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394960"/>
            <a:ext cx="11094415" cy="777240"/>
          </a:xfrm>
          <a:prstGeom prst="rect">
            <a:avLst/>
          </a:prstGeom>
          <a:solidFill>
            <a:srgbClr val="F5F6FC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394960"/>
            <a:ext cx="749177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and support ownership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247373" y="55824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4DD"/>
          </a:solidFill>
          <a:ln/>
        </p:spPr>
      </p:sp>
      <p:sp>
        <p:nvSpPr>
          <p:cNvPr id="26" name="Text 24"/>
          <p:cNvSpPr/>
          <p:nvPr/>
        </p:nvSpPr>
        <p:spPr>
          <a:xfrm>
            <a:off x="9247373" y="55824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379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3017520"/>
            <a:ext cx="5486400" cy="54864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Shape 2"/>
          <p:cNvSpPr/>
          <p:nvPr/>
        </p:nvSpPr>
        <p:spPr>
          <a:xfrm>
            <a:off x="4229100" y="2519172"/>
            <a:ext cx="960120" cy="96012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5" name="Image 0" descr="/Users/mohit.kanwar_1/projects/Accomodation-Booking-Solution/deck/assets/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9130" y="2759202"/>
            <a:ext cx="480060" cy="4800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49240" y="251460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Initial Data Model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349240" y="3520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INITIAL 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Conceptual B2C-side model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discovery-stage model for the platform — it does not prescribe a database technology or duplicate authoritative employee data.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18608" cy="4160520"/>
          </a:xfrm>
          <a:prstGeom prst="roundRect">
            <a:avLst>
              <a:gd name="adj" fmla="val 2198"/>
            </a:avLst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800100" y="2171700"/>
            <a:ext cx="502920" cy="50292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7" name="Image 0" descr="/Users/mohit.kanwar_1/projects/Accomodation-Booking-Solution/deck/assets/icons/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2297430"/>
            <a:ext cx="251460" cy="2514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176272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&amp; identity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14400" y="2880360"/>
            <a:ext cx="4587088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B379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2880360"/>
            <a:ext cx="458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14400" y="3474720"/>
            <a:ext cx="4587088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B379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474720"/>
            <a:ext cx="458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Travel Profile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914400" y="4069080"/>
            <a:ext cx="4587088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B379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4069080"/>
            <a:ext cx="458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Level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14400" y="4663440"/>
            <a:ext cx="4587088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B379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63440"/>
            <a:ext cx="458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 Site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14400" y="5257800"/>
            <a:ext cx="4587088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B379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5257800"/>
            <a:ext cx="458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Policy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324448" y="1965960"/>
            <a:ext cx="5318608" cy="4160520"/>
          </a:xfrm>
          <a:prstGeom prst="roundRect">
            <a:avLst>
              <a:gd name="adj" fmla="val 2198"/>
            </a:avLst>
          </a:prstGeom>
          <a:solidFill>
            <a:srgbClr val="F5F6FC"/>
          </a:solidFill>
          <a:ln/>
        </p:spPr>
      </p:sp>
      <p:sp>
        <p:nvSpPr>
          <p:cNvPr id="20" name="Shape 17"/>
          <p:cNvSpPr/>
          <p:nvPr/>
        </p:nvSpPr>
        <p:spPr>
          <a:xfrm>
            <a:off x="6575908" y="2171700"/>
            <a:ext cx="502920" cy="50292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21" name="Image 1" descr="/Users/mohit.kanwar_1/projects/Accomodation-Booking-Solution/deck/assets/icons/gitBra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638" y="2297430"/>
            <a:ext cx="251460" cy="25146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193128" y="2176272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&amp; booking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6690208" y="2880360"/>
            <a:ext cx="4587088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02A7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690208" y="2880360"/>
            <a:ext cx="458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Request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6690208" y="3474720"/>
            <a:ext cx="4587088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02A7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690208" y="3474720"/>
            <a:ext cx="458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690208" y="4069080"/>
            <a:ext cx="4587088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02A7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690208" y="4069080"/>
            <a:ext cx="458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Booking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6690208" y="4663440"/>
            <a:ext cx="4587088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02A7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690208" y="4663440"/>
            <a:ext cx="458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Event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6690208" y="5257800"/>
            <a:ext cx="4587088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02A78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690208" y="5257800"/>
            <a:ext cx="458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Outbox Event</a:t>
            </a:r>
            <a:endParaRPr lang="en-US" sz="1300" dirty="0"/>
          </a:p>
        </p:txBody>
      </p:sp>
      <p:sp>
        <p:nvSpPr>
          <p:cNvPr id="33" name="Text 2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INITIAL 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model catalogue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domain models across six bounded contexts — see the Domain Models page for full detail.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484778" cy="1965960"/>
          </a:xfrm>
          <a:prstGeom prst="roundRect">
            <a:avLst>
              <a:gd name="adj" fmla="val 3721"/>
            </a:avLst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929384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2B3797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874520"/>
            <a:ext cx="2890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&amp; Organisation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13232" y="2286000"/>
            <a:ext cx="315559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CorporateClient   ·   CorporateLocations   ·   CorporateUserRoles   ·   CorporateApprovalPolicy   ·   CorporatePriceRange   ·   ApproverAssignment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53458" y="1783080"/>
            <a:ext cx="3484778" cy="1965960"/>
          </a:xfrm>
          <a:prstGeom prst="roundRect">
            <a:avLst>
              <a:gd name="adj" fmla="val 3721"/>
            </a:avLst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4518050" y="1929384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202A78"/>
          </a:solidFill>
          <a:ln/>
        </p:spPr>
      </p:sp>
      <p:sp>
        <p:nvSpPr>
          <p:cNvPr id="11" name="Text 9"/>
          <p:cNvSpPr/>
          <p:nvPr/>
        </p:nvSpPr>
        <p:spPr>
          <a:xfrm>
            <a:off x="4810658" y="1874520"/>
            <a:ext cx="2890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Traveller, Request &amp; Approval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18050" y="2286000"/>
            <a:ext cx="315559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TravellerDetails   ·   AccommodationRequest   ·   OfferSnapshot   ·   PolicySnapshot   ·   ClarificationThread   ·   ApprovalDecision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58277" y="1783080"/>
            <a:ext cx="3484778" cy="1965960"/>
          </a:xfrm>
          <a:prstGeom prst="roundRect">
            <a:avLst>
              <a:gd name="adj" fmla="val 3721"/>
            </a:avLst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8322869" y="1929384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187A5A"/>
          </a:solidFill>
          <a:ln/>
        </p:spPr>
      </p:sp>
      <p:sp>
        <p:nvSpPr>
          <p:cNvPr id="15" name="Text 13"/>
          <p:cNvSpPr/>
          <p:nvPr/>
        </p:nvSpPr>
        <p:spPr>
          <a:xfrm>
            <a:off x="8615477" y="1874520"/>
            <a:ext cx="2890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&amp; Supplier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322869" y="2286000"/>
            <a:ext cx="315559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SupplierBooking   ·   BookingChangeRequest   ·   IdempotencyRecord   ·   SupplierCorporation   ·   SupplierIntegrationConfig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484778" cy="1965960"/>
          </a:xfrm>
          <a:prstGeom prst="roundRect">
            <a:avLst>
              <a:gd name="adj" fmla="val 3721"/>
            </a:avLst>
          </a:prstGeom>
          <a:solidFill>
            <a:srgbClr val="F5F6FC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" y="4078224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9A5A00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023360"/>
            <a:ext cx="2890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13232" y="4434840"/>
            <a:ext cx="315559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  ·   BillValidation   ·   PaymentInstruction   ·   ReconciliationException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353458" y="3931920"/>
            <a:ext cx="3484778" cy="1965960"/>
          </a:xfrm>
          <a:prstGeom prst="roundRect">
            <a:avLst>
              <a:gd name="adj" fmla="val 3721"/>
            </a:avLst>
          </a:prstGeom>
          <a:solidFill>
            <a:srgbClr val="F5F6FC"/>
          </a:solidFill>
          <a:ln/>
        </p:spPr>
      </p:sp>
      <p:sp>
        <p:nvSpPr>
          <p:cNvPr id="22" name="Shape 20"/>
          <p:cNvSpPr/>
          <p:nvPr/>
        </p:nvSpPr>
        <p:spPr>
          <a:xfrm>
            <a:off x="4518050" y="4078224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202A78"/>
          </a:solidFill>
          <a:ln/>
        </p:spPr>
      </p:sp>
      <p:sp>
        <p:nvSpPr>
          <p:cNvPr id="23" name="Text 21"/>
          <p:cNvSpPr/>
          <p:nvPr/>
        </p:nvSpPr>
        <p:spPr>
          <a:xfrm>
            <a:off x="4810658" y="4023360"/>
            <a:ext cx="2890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&amp; Administration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18050" y="4434840"/>
            <a:ext cx="315559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PlatformAccessGrant   ·   SupportCase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158277" y="3931920"/>
            <a:ext cx="3484778" cy="1965960"/>
          </a:xfrm>
          <a:prstGeom prst="roundRect">
            <a:avLst>
              <a:gd name="adj" fmla="val 3721"/>
            </a:avLst>
          </a:prstGeom>
          <a:solidFill>
            <a:srgbClr val="F5F6FC"/>
          </a:solidFill>
          <a:ln/>
        </p:spPr>
      </p:sp>
      <p:sp>
        <p:nvSpPr>
          <p:cNvPr id="26" name="Shape 24"/>
          <p:cNvSpPr/>
          <p:nvPr/>
        </p:nvSpPr>
        <p:spPr>
          <a:xfrm>
            <a:off x="8322869" y="4078224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5F6685"/>
          </a:solidFill>
          <a:ln/>
        </p:spPr>
      </p:sp>
      <p:sp>
        <p:nvSpPr>
          <p:cNvPr id="27" name="Text 25"/>
          <p:cNvSpPr/>
          <p:nvPr/>
        </p:nvSpPr>
        <p:spPr>
          <a:xfrm>
            <a:off x="8615477" y="4023360"/>
            <a:ext cx="2890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 Evidence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322869" y="4434840"/>
            <a:ext cx="315559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AuditEvent   ·   OutboxEvent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379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3017520"/>
            <a:ext cx="5486400" cy="54864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Shape 2"/>
          <p:cNvSpPr/>
          <p:nvPr/>
        </p:nvSpPr>
        <p:spPr>
          <a:xfrm>
            <a:off x="4229100" y="2519172"/>
            <a:ext cx="960120" cy="96012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5" name="Image 0" descr="/Users/mohit.kanwar_1/projects/Accomodation-Booking-Solution/deck/assets/icons/refreshC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9130" y="2759202"/>
            <a:ext cx="480060" cy="4800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49240" y="251460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High-Level API Flow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349240" y="3520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HIGH-LEVEL API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Search, request, and book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never calls Booking.com directly — every supplier call is server-side, through a controlled adapter.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454298" cy="3931920"/>
          </a:xfrm>
          <a:prstGeom prst="roundRect">
            <a:avLst>
              <a:gd name="adj" fmla="val 2647"/>
            </a:avLst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1932889" y="2171700"/>
            <a:ext cx="685800" cy="6858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7" name="Image 0" descr="/Users/mohit.kanwar_1/projects/Accomodation-Booking-Solution/deck/assets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4339" y="2343150"/>
            <a:ext cx="342900" cy="3429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297180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Load and search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3429000"/>
            <a:ext cx="29056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client and role context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Booking.com through the adapter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policy for each proposal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proposals with price and explanation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30370" y="3794760"/>
            <a:ext cx="310896" cy="274320"/>
          </a:xfrm>
          <a:prstGeom prst="rightArrow">
            <a:avLst/>
          </a:prstGeom>
          <a:solidFill>
            <a:srgbClr val="C9CEE8"/>
          </a:solidFill>
          <a:ln/>
        </p:spPr>
      </p:sp>
      <p:sp>
        <p:nvSpPr>
          <p:cNvPr id="11" name="Shape 8"/>
          <p:cNvSpPr/>
          <p:nvPr/>
        </p:nvSpPr>
        <p:spPr>
          <a:xfrm>
            <a:off x="4368698" y="1965960"/>
            <a:ext cx="3454298" cy="3931920"/>
          </a:xfrm>
          <a:prstGeom prst="roundRect">
            <a:avLst>
              <a:gd name="adj" fmla="val 2647"/>
            </a:avLst>
          </a:prstGeom>
          <a:solidFill>
            <a:srgbClr val="F5F6FC"/>
          </a:solidFill>
          <a:ln/>
        </p:spPr>
      </p:sp>
      <p:sp>
        <p:nvSpPr>
          <p:cNvPr id="12" name="Shape 9"/>
          <p:cNvSpPr/>
          <p:nvPr/>
        </p:nvSpPr>
        <p:spPr>
          <a:xfrm>
            <a:off x="5752948" y="2171700"/>
            <a:ext cx="685800" cy="68580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13" name="Image 1" descr="/Users/mohit.kanwar_1/projects/Accomodation-Booking-Solution/deck/assets/icons/user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4398" y="2343150"/>
            <a:ext cx="342900" cy="3429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51578" y="297180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Request and decision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43018" y="3429000"/>
            <a:ext cx="29056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Recheck offer and policy; snapshot both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the operator via the outbox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approves, rejects, or clarifies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the decision and audit event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50429" y="3794760"/>
            <a:ext cx="310896" cy="274320"/>
          </a:xfrm>
          <a:prstGeom prst="rightArrow">
            <a:avLst/>
          </a:prstGeom>
          <a:solidFill>
            <a:srgbClr val="C9CEE8"/>
          </a:solidFill>
          <a:ln/>
        </p:spPr>
      </p:sp>
      <p:sp>
        <p:nvSpPr>
          <p:cNvPr id="17" name="Shape 13"/>
          <p:cNvSpPr/>
          <p:nvPr/>
        </p:nvSpPr>
        <p:spPr>
          <a:xfrm>
            <a:off x="8188757" y="1965960"/>
            <a:ext cx="3454298" cy="3931920"/>
          </a:xfrm>
          <a:prstGeom prst="roundRect">
            <a:avLst>
              <a:gd name="adj" fmla="val 2647"/>
            </a:avLst>
          </a:prstGeom>
          <a:solidFill>
            <a:srgbClr val="F5F6FC"/>
          </a:solidFill>
          <a:ln/>
        </p:spPr>
      </p:sp>
      <p:sp>
        <p:nvSpPr>
          <p:cNvPr id="18" name="Shape 14"/>
          <p:cNvSpPr/>
          <p:nvPr/>
        </p:nvSpPr>
        <p:spPr>
          <a:xfrm>
            <a:off x="9573006" y="2171700"/>
            <a:ext cx="685800" cy="685800"/>
          </a:xfrm>
          <a:prstGeom prst="ellipse">
            <a:avLst/>
          </a:prstGeom>
          <a:solidFill>
            <a:srgbClr val="187A5A"/>
          </a:solidFill>
          <a:ln/>
        </p:spPr>
      </p:sp>
      <p:pic>
        <p:nvPicPr>
          <p:cNvPr id="19" name="Image 2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4456" y="2343150"/>
            <a:ext cx="342900" cy="3429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71637" y="297180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Create the reservation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463077" y="3429000"/>
            <a:ext cx="29056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Recheck availability and final price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for renewed approval if changed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order with a preview token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the confirmation and notify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HIGH-LEVEL API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Booking.com integration principles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499284" cy="3566160"/>
          </a:xfrm>
          <a:prstGeom prst="roundRect">
            <a:avLst>
              <a:gd name="adj" fmla="val 2927"/>
            </a:avLst>
          </a:prstGeom>
          <a:solidFill>
            <a:srgbClr val="F5F6FC"/>
          </a:solidFill>
          <a:ln/>
          <a:effectLst>
            <a:outerShdw sx="100000" sy="100000" kx="0" ky="0" algn="bl" rotWithShape="0" blurRad="76200" dist="25400" dir="5400000">
              <a:srgbClr val="9AA5D9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2011680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6" name="Image 0" descr="/Users/mohit.kanwar_1/projects/Accomodation-Booking-Solution/deck/assets/icons/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2125980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993392"/>
            <a:ext cx="16306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only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2514600"/>
            <a:ext cx="195064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token and affiliate ID live in secret management — never in the browser.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13684" y="1828800"/>
            <a:ext cx="2499284" cy="3566160"/>
          </a:xfrm>
          <a:prstGeom prst="roundRect">
            <a:avLst>
              <a:gd name="adj" fmla="val 2927"/>
            </a:avLst>
          </a:prstGeom>
          <a:solidFill>
            <a:srgbClr val="F5F6FC"/>
          </a:solidFill>
          <a:ln/>
          <a:effectLst>
            <a:outerShdw sx="100000" sy="100000" kx="0" ky="0" algn="bl" rotWithShape="0" blurRad="76200" dist="25400" dir="5400000">
              <a:srgbClr val="9AA5D9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50844" y="2011680"/>
            <a:ext cx="457200" cy="45720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11" name="Image 1" descr="/Users/mohit.kanwar_1/projects/Accomodation-Booking-Solution/deck/assets/icons/refreshC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5144" y="212598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99484" y="1993392"/>
            <a:ext cx="16306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Revalidate volatile data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688004" y="2514600"/>
            <a:ext cx="195064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Availability, price, and cancellation terms are rechecked before booking.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78728" y="1828800"/>
            <a:ext cx="2499284" cy="3566160"/>
          </a:xfrm>
          <a:prstGeom prst="roundRect">
            <a:avLst>
              <a:gd name="adj" fmla="val 2927"/>
            </a:avLst>
          </a:prstGeom>
          <a:solidFill>
            <a:srgbClr val="F5F6FC"/>
          </a:solidFill>
          <a:ln/>
          <a:effectLst>
            <a:outerShdw sx="100000" sy="100000" kx="0" ky="0" algn="bl" rotWithShape="0" blurRad="76200" dist="25400" dir="5400000">
              <a:srgbClr val="9AA5D9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15888" y="2011680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6" name="Image 2" descr="/Users/mohit.kanwar_1/projects/Accomodation-Booking-Solution/deck/assets/icons/z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188" y="2125980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64528" y="1993392"/>
            <a:ext cx="16306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booking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553048" y="2514600"/>
            <a:ext cx="195064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retried or timed-out command can never create a duplicate reservation.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143771" y="1828800"/>
            <a:ext cx="2499284" cy="3566160"/>
          </a:xfrm>
          <a:prstGeom prst="roundRect">
            <a:avLst>
              <a:gd name="adj" fmla="val 2927"/>
            </a:avLst>
          </a:prstGeom>
          <a:solidFill>
            <a:srgbClr val="F5F6FC"/>
          </a:solidFill>
          <a:ln/>
          <a:effectLst>
            <a:outerShdw sx="100000" sy="100000" kx="0" ky="0" algn="bl" rotWithShape="0" blurRad="76200" dist="25400" dir="5400000">
              <a:srgbClr val="9AA5D9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280931" y="2011680"/>
            <a:ext cx="457200" cy="45720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21" name="Image 3" descr="/Users/mohit.kanwar_1/projects/Accomodation-Booking-Solution/deck/assets/icons/lay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5231" y="2125980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829571" y="1993392"/>
            <a:ext cx="16306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Anti-corruption layer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9418091" y="2514600"/>
            <a:ext cx="195064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 schemas and versions stay isolated from the domain model.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5577840"/>
            <a:ext cx="11094415" cy="457200"/>
          </a:xfrm>
          <a:prstGeom prst="roundRect">
            <a:avLst>
              <a:gd name="adj" fmla="val 16000"/>
            </a:avLst>
          </a:prstGeom>
          <a:solidFill>
            <a:srgbClr val="FFF4DD"/>
          </a:solidFill>
          <a:ln/>
        </p:spPr>
      </p:sp>
      <p:sp>
        <p:nvSpPr>
          <p:cNvPr id="25" name="Text 19"/>
          <p:cNvSpPr/>
          <p:nvPr/>
        </p:nvSpPr>
        <p:spPr>
          <a:xfrm>
            <a:off x="777240" y="557784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Booking.com’s preview order token is time-limited — preview and create belong in the controlled booking step, not at initial selection.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B379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3017520"/>
            <a:ext cx="5486400" cy="54864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Shape 2"/>
          <p:cNvSpPr/>
          <p:nvPr/>
        </p:nvSpPr>
        <p:spPr>
          <a:xfrm>
            <a:off x="4229100" y="2519172"/>
            <a:ext cx="960120" cy="96012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5" name="Image 0" descr="/Users/mohit.kanwar_1/projects/Accomodation-Booking-Solution/deck/assets/icons/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9130" y="2759202"/>
            <a:ext cx="480060" cy="4800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49240" y="251460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Principles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349240" y="3520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minutes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ARCHITECTURE PRINCIPLES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principles, independent of technology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12648" y="1700784"/>
            <a:ext cx="384048" cy="384048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5" name="Image 0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796796"/>
            <a:ext cx="192024" cy="1920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581912"/>
            <a:ext cx="481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supplier integration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Protects credentials, prevents rule bypass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342736" y="1700784"/>
            <a:ext cx="384048" cy="384048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8" name="Image 1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748" y="1796796"/>
            <a:ext cx="192024" cy="19202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27368" y="1581912"/>
            <a:ext cx="481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identity and tenant context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cannot depend on browser data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12648" y="2596896"/>
            <a:ext cx="384048" cy="384048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1" name="Image 2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2692908"/>
            <a:ext cx="192024" cy="19202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97280" y="2478024"/>
            <a:ext cx="481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as versioned domain logic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Explainable, auditable, time-bound caps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42736" y="2596896"/>
            <a:ext cx="384048" cy="384048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14" name="Image 3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748" y="2692908"/>
            <a:ext cx="192024" cy="19202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827368" y="2478024"/>
            <a:ext cx="481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before reservation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intent, approval, attempt, confirmation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612648" y="3493008"/>
            <a:ext cx="384048" cy="384048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7" name="Image 4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" y="3589020"/>
            <a:ext cx="192024" cy="192024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97280" y="3374136"/>
            <a:ext cx="481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anti-corruption layer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domain from Booking.com’s schemas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6342736" y="3493008"/>
            <a:ext cx="384048" cy="384048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20" name="Image 5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8748" y="3589020"/>
            <a:ext cx="192024" cy="192024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827368" y="3374136"/>
            <a:ext cx="481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Revalidate volatile data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Price, availability, and terms may change</a:t>
            </a:r>
            <a:endParaRPr lang="en-US" sz="1250" dirty="0"/>
          </a:p>
        </p:txBody>
      </p:sp>
      <p:sp>
        <p:nvSpPr>
          <p:cNvPr id="22" name="Shape 14"/>
          <p:cNvSpPr/>
          <p:nvPr/>
        </p:nvSpPr>
        <p:spPr>
          <a:xfrm>
            <a:off x="612648" y="4389120"/>
            <a:ext cx="384048" cy="384048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3" name="Image 6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" y="4485132"/>
            <a:ext cx="192024" cy="192024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097280" y="4270248"/>
            <a:ext cx="481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Idempotent, recoverable booking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Retries never silently duplicate reservations</a:t>
            </a:r>
            <a:endParaRPr lang="en-US" sz="1250" dirty="0"/>
          </a:p>
        </p:txBody>
      </p:sp>
      <p:sp>
        <p:nvSpPr>
          <p:cNvPr id="25" name="Shape 16"/>
          <p:cNvSpPr/>
          <p:nvPr/>
        </p:nvSpPr>
        <p:spPr>
          <a:xfrm>
            <a:off x="6342736" y="4389120"/>
            <a:ext cx="384048" cy="384048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26" name="Image 7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8748" y="4485132"/>
            <a:ext cx="192024" cy="192024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827368" y="4270248"/>
            <a:ext cx="481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by design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and change needs evidence</a:t>
            </a:r>
            <a:endParaRPr lang="en-US" sz="1250" dirty="0"/>
          </a:p>
        </p:txBody>
      </p:sp>
      <p:sp>
        <p:nvSpPr>
          <p:cNvPr id="28" name="Shape 18"/>
          <p:cNvSpPr/>
          <p:nvPr/>
        </p:nvSpPr>
        <p:spPr>
          <a:xfrm>
            <a:off x="612648" y="5285232"/>
            <a:ext cx="384048" cy="384048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9" name="Image 8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660" y="5381244"/>
            <a:ext cx="192024" cy="192024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1097280" y="5166360"/>
            <a:ext cx="481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and least privilege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 and control sensitive data access</a:t>
            </a:r>
            <a:endParaRPr lang="en-US" sz="1250" dirty="0"/>
          </a:p>
        </p:txBody>
      </p:sp>
      <p:sp>
        <p:nvSpPr>
          <p:cNvPr id="31" name="Shape 20"/>
          <p:cNvSpPr/>
          <p:nvPr/>
        </p:nvSpPr>
        <p:spPr>
          <a:xfrm>
            <a:off x="6342736" y="5285232"/>
            <a:ext cx="384048" cy="384048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32" name="Image 9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8748" y="5381244"/>
            <a:ext cx="192024" cy="192024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6827368" y="5166360"/>
            <a:ext cx="481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 operations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Correlation, ageing, failure, reconciliation visibility</a:t>
            </a:r>
            <a:endParaRPr lang="en-US" sz="1250" dirty="0"/>
          </a:p>
        </p:txBody>
      </p:sp>
      <p:sp>
        <p:nvSpPr>
          <p:cNvPr id="34" name="Text 2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35" name="Text 23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ARCHITECTURE PRINCIPLES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 requirements &amp; targets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1051560"/>
          </a:xfrm>
          <a:prstGeom prst="roundRect">
            <a:avLst>
              <a:gd name="adj" fmla="val 6957"/>
            </a:avLst>
          </a:prstGeom>
          <a:solidFill>
            <a:srgbClr val="2B379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2567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99.9%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2384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&amp; operator uptime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90824" y="1554480"/>
            <a:ext cx="2567864" cy="1051560"/>
          </a:xfrm>
          <a:prstGeom prst="roundRect">
            <a:avLst>
              <a:gd name="adj" fmla="val 6957"/>
            </a:avLst>
          </a:prstGeom>
          <a:solidFill>
            <a:srgbClr val="202A78"/>
          </a:solidFill>
          <a:ln/>
        </p:spPr>
      </p:sp>
      <p:sp>
        <p:nvSpPr>
          <p:cNvPr id="8" name="Text 6"/>
          <p:cNvSpPr/>
          <p:nvPr/>
        </p:nvSpPr>
        <p:spPr>
          <a:xfrm>
            <a:off x="3390824" y="1627632"/>
            <a:ext cx="2567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99.5%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482264" y="2148840"/>
            <a:ext cx="2384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capability uptime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33008" y="1554480"/>
            <a:ext cx="2567864" cy="1051560"/>
          </a:xfrm>
          <a:prstGeom prst="roundRect">
            <a:avLst>
              <a:gd name="adj" fmla="val 6957"/>
            </a:avLst>
          </a:prstGeom>
          <a:solidFill>
            <a:srgbClr val="2B3797"/>
          </a:solidFill>
          <a:ln/>
        </p:spPr>
      </p:sp>
      <p:sp>
        <p:nvSpPr>
          <p:cNvPr id="11" name="Text 9"/>
          <p:cNvSpPr/>
          <p:nvPr/>
        </p:nvSpPr>
        <p:spPr>
          <a:xfrm>
            <a:off x="6233008" y="1627632"/>
            <a:ext cx="2567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&lt;200ms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324448" y="2148840"/>
            <a:ext cx="2384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evaluation, p95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075191" y="1554480"/>
            <a:ext cx="2567864" cy="1051560"/>
          </a:xfrm>
          <a:prstGeom prst="roundRect">
            <a:avLst>
              <a:gd name="adj" fmla="val 6957"/>
            </a:avLst>
          </a:prstGeom>
          <a:solidFill>
            <a:srgbClr val="202A78"/>
          </a:solidFill>
          <a:ln/>
        </p:spPr>
      </p:sp>
      <p:sp>
        <p:nvSpPr>
          <p:cNvPr id="14" name="Text 12"/>
          <p:cNvSpPr/>
          <p:nvPr/>
        </p:nvSpPr>
        <p:spPr>
          <a:xfrm>
            <a:off x="9075191" y="1627632"/>
            <a:ext cx="2567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&lt;2s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166631" y="2148840"/>
            <a:ext cx="2384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submission, p95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297180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9325" y="3127248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8" name="Image 0" descr="/Users/mohit.kanwar_1/projects/Accomodation-Booking-Solution/deck/assets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3625" y="3241548"/>
            <a:ext cx="228600" cy="2286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603504" y="368503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Privacy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435809" y="297180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21" name="Shape 18"/>
          <p:cNvSpPr/>
          <p:nvPr/>
        </p:nvSpPr>
        <p:spPr>
          <a:xfrm>
            <a:off x="3036494" y="3127248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2" name="Image 1" descr="/Users/mohit.kanwar_1/projects/Accomodation-Booking-Solution/deck/assets/icons/refreshC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794" y="3241548"/>
            <a:ext cx="228600" cy="22860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2490673" y="368503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4322978" y="297180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25" name="Shape 21"/>
          <p:cNvSpPr/>
          <p:nvPr/>
        </p:nvSpPr>
        <p:spPr>
          <a:xfrm>
            <a:off x="4923663" y="3127248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6" name="Image 2" descr="/Users/mohit.kanwar_1/projects/Accomodation-Booking-Solution/deck/assets/icons/bar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7963" y="3241548"/>
            <a:ext cx="228600" cy="22860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4377842" y="368503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6210148" y="297180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29" name="Shape 24"/>
          <p:cNvSpPr/>
          <p:nvPr/>
        </p:nvSpPr>
        <p:spPr>
          <a:xfrm>
            <a:off x="6810832" y="3127248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30" name="Image 3" descr="/Users/mohit.kanwar_1/projects/Accomodation-Booking-Solution/deck/assets/icons/ey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5132" y="3241548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265012" y="368503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8097317" y="297180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33" name="Shape 27"/>
          <p:cNvSpPr/>
          <p:nvPr/>
        </p:nvSpPr>
        <p:spPr>
          <a:xfrm>
            <a:off x="8698001" y="3127248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34" name="Image 4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2301" y="3241548"/>
            <a:ext cx="228600" cy="22860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152181" y="368503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Auditability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9984486" y="297180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37" name="Shape 30"/>
          <p:cNvSpPr/>
          <p:nvPr/>
        </p:nvSpPr>
        <p:spPr>
          <a:xfrm>
            <a:off x="10585171" y="3127248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38" name="Image 5" descr="/Users/mohit.kanwar_1/projects/Accomodation-Booking-Solution/deck/assets/icons/layer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99471" y="3241548"/>
            <a:ext cx="228600" cy="22860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10039350" y="368503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Maintainability</a:t>
            </a:r>
            <a:endParaRPr lang="en-US" sz="1000" dirty="0"/>
          </a:p>
        </p:txBody>
      </p:sp>
      <p:sp>
        <p:nvSpPr>
          <p:cNvPr id="40" name="Shape 32"/>
          <p:cNvSpPr/>
          <p:nvPr/>
        </p:nvSpPr>
        <p:spPr>
          <a:xfrm>
            <a:off x="548640" y="438912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41" name="Shape 33"/>
          <p:cNvSpPr/>
          <p:nvPr/>
        </p:nvSpPr>
        <p:spPr>
          <a:xfrm>
            <a:off x="1149325" y="4544568"/>
            <a:ext cx="457200" cy="45720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42" name="Image 6" descr="/Users/mohit.kanwar_1/projects/Accomodation-Booking-Solution/deck/assets/icons/lin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3625" y="4658868"/>
            <a:ext cx="228600" cy="228600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603504" y="510235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Interoperability</a:t>
            </a:r>
            <a:endParaRPr lang="en-US" sz="1000" dirty="0"/>
          </a:p>
        </p:txBody>
      </p:sp>
      <p:sp>
        <p:nvSpPr>
          <p:cNvPr id="44" name="Shape 35"/>
          <p:cNvSpPr/>
          <p:nvPr/>
        </p:nvSpPr>
        <p:spPr>
          <a:xfrm>
            <a:off x="2435809" y="438912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45" name="Shape 36"/>
          <p:cNvSpPr/>
          <p:nvPr/>
        </p:nvSpPr>
        <p:spPr>
          <a:xfrm>
            <a:off x="3036494" y="4544568"/>
            <a:ext cx="457200" cy="45720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46" name="Image 7" descr="/Users/mohit.kanwar_1/projects/Accomodation-Booking-Solution/deck/assets/icons/dollarSig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50794" y="4658868"/>
            <a:ext cx="228600" cy="228600"/>
          </a:xfrm>
          <a:prstGeom prst="rect">
            <a:avLst/>
          </a:prstGeom>
        </p:spPr>
      </p:pic>
      <p:sp>
        <p:nvSpPr>
          <p:cNvPr id="47" name="Text 37"/>
          <p:cNvSpPr/>
          <p:nvPr/>
        </p:nvSpPr>
        <p:spPr>
          <a:xfrm>
            <a:off x="2490673" y="510235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Efficiency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4322978" y="438912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49" name="Shape 39"/>
          <p:cNvSpPr/>
          <p:nvPr/>
        </p:nvSpPr>
        <p:spPr>
          <a:xfrm>
            <a:off x="4923663" y="4544568"/>
            <a:ext cx="457200" cy="45720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50" name="Image 8" descr="/Users/mohit.kanwar_1/projects/Accomodation-Booking-Solution/deck/assets/icons/clock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37963" y="4658868"/>
            <a:ext cx="228600" cy="228600"/>
          </a:xfrm>
          <a:prstGeom prst="rect">
            <a:avLst/>
          </a:prstGeom>
        </p:spPr>
      </p:pic>
      <p:sp>
        <p:nvSpPr>
          <p:cNvPr id="51" name="Text 40"/>
          <p:cNvSpPr/>
          <p:nvPr/>
        </p:nvSpPr>
        <p:spPr>
          <a:xfrm>
            <a:off x="4377842" y="510235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6210148" y="438912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53" name="Shape 42"/>
          <p:cNvSpPr/>
          <p:nvPr/>
        </p:nvSpPr>
        <p:spPr>
          <a:xfrm>
            <a:off x="6810832" y="4544568"/>
            <a:ext cx="457200" cy="45720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54" name="Image 9" descr="/Users/mohit.kanwar_1/projects/Accomodation-Booking-Solution/deck/assets/icons/za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25132" y="4658868"/>
            <a:ext cx="228600" cy="228600"/>
          </a:xfrm>
          <a:prstGeom prst="rect">
            <a:avLst/>
          </a:prstGeom>
        </p:spPr>
      </p:pic>
      <p:sp>
        <p:nvSpPr>
          <p:cNvPr id="55" name="Text 43"/>
          <p:cNvSpPr/>
          <p:nvPr/>
        </p:nvSpPr>
        <p:spPr>
          <a:xfrm>
            <a:off x="6265012" y="510235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00" dirty="0"/>
          </a:p>
        </p:txBody>
      </p:sp>
      <p:sp>
        <p:nvSpPr>
          <p:cNvPr id="56" name="Shape 44"/>
          <p:cNvSpPr/>
          <p:nvPr/>
        </p:nvSpPr>
        <p:spPr>
          <a:xfrm>
            <a:off x="8097317" y="438912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57" name="Shape 45"/>
          <p:cNvSpPr/>
          <p:nvPr/>
        </p:nvSpPr>
        <p:spPr>
          <a:xfrm>
            <a:off x="8698001" y="4544568"/>
            <a:ext cx="457200" cy="45720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58" name="Image 10" descr="/Users/mohit.kanwar_1/projects/Accomodation-Booking-Solution/deck/assets/icons/hom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12301" y="4658868"/>
            <a:ext cx="228600" cy="228600"/>
          </a:xfrm>
          <a:prstGeom prst="rect">
            <a:avLst/>
          </a:prstGeom>
        </p:spPr>
      </p:pic>
      <p:sp>
        <p:nvSpPr>
          <p:cNvPr id="59" name="Text 46"/>
          <p:cNvSpPr/>
          <p:nvPr/>
        </p:nvSpPr>
        <p:spPr>
          <a:xfrm>
            <a:off x="8152181" y="510235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000" dirty="0"/>
          </a:p>
        </p:txBody>
      </p:sp>
      <p:sp>
        <p:nvSpPr>
          <p:cNvPr id="60" name="Shape 47"/>
          <p:cNvSpPr/>
          <p:nvPr/>
        </p:nvSpPr>
        <p:spPr>
          <a:xfrm>
            <a:off x="9984486" y="438912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61" name="Shape 48"/>
          <p:cNvSpPr/>
          <p:nvPr/>
        </p:nvSpPr>
        <p:spPr>
          <a:xfrm>
            <a:off x="10585171" y="4544568"/>
            <a:ext cx="457200" cy="45720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62" name="Image 11" descr="/Users/mohit.kanwar_1/projects/Accomodation-Booking-Solution/deck/assets/icons/alertTriangl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99471" y="4658868"/>
            <a:ext cx="228600" cy="228600"/>
          </a:xfrm>
          <a:prstGeom prst="rect">
            <a:avLst/>
          </a:prstGeom>
        </p:spPr>
      </p:pic>
      <p:sp>
        <p:nvSpPr>
          <p:cNvPr id="63" name="Text 49"/>
          <p:cNvSpPr/>
          <p:nvPr/>
        </p:nvSpPr>
        <p:spPr>
          <a:xfrm>
            <a:off x="10039350" y="510235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Recovery</a:t>
            </a:r>
            <a:endParaRPr lang="en-US" sz="1000" dirty="0"/>
          </a:p>
        </p:txBody>
      </p:sp>
      <p:sp>
        <p:nvSpPr>
          <p:cNvPr id="64" name="Text 5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65" name="Text 51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379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3017520"/>
            <a:ext cx="5486400" cy="54864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Shape 2"/>
          <p:cNvSpPr/>
          <p:nvPr/>
        </p:nvSpPr>
        <p:spPr>
          <a:xfrm>
            <a:off x="4229100" y="2519172"/>
            <a:ext cx="960120" cy="96012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5" name="Image 0" descr="/Users/mohit.kanwar_1/projects/Accomodation-Booking-Solution/deck/assets/icons/trending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9130" y="2759202"/>
            <a:ext cx="480060" cy="4800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49240" y="251460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Workshops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349240" y="3520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NEXT STEPS AND WORKSHOPS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discovery work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1417320"/>
          </a:xfrm>
          <a:prstGeom prst="roundRect">
            <a:avLst>
              <a:gd name="adj" fmla="val 5161"/>
            </a:avLst>
          </a:prstGeom>
          <a:solidFill>
            <a:srgbClr val="F5F6FC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74650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2B3797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214884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outcomes and scope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13232" y="2587752"/>
            <a:ext cx="3186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Sponsor, product, operations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38218" y="1600200"/>
            <a:ext cx="3515258" cy="1417320"/>
          </a:xfrm>
          <a:prstGeom prst="roundRect">
            <a:avLst>
              <a:gd name="adj" fmla="val 5161"/>
            </a:avLst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4502810" y="174650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202A78"/>
          </a:solidFill>
          <a:ln/>
        </p:spPr>
      </p:sp>
      <p:sp>
        <p:nvSpPr>
          <p:cNvPr id="11" name="Text 9"/>
          <p:cNvSpPr/>
          <p:nvPr/>
        </p:nvSpPr>
        <p:spPr>
          <a:xfrm>
            <a:off x="4502810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02810" y="214884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and operator journey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02810" y="2587752"/>
            <a:ext cx="3186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Product, UX, operators, support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27797" y="1600200"/>
            <a:ext cx="3515258" cy="1417320"/>
          </a:xfrm>
          <a:prstGeom prst="roundRect">
            <a:avLst>
              <a:gd name="adj" fmla="val 5161"/>
            </a:avLst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8292389" y="174650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2B3797"/>
          </a:solidFill>
          <a:ln/>
        </p:spPr>
      </p:sp>
      <p:sp>
        <p:nvSpPr>
          <p:cNvPr id="16" name="Text 14"/>
          <p:cNvSpPr/>
          <p:nvPr/>
        </p:nvSpPr>
        <p:spPr>
          <a:xfrm>
            <a:off x="8292389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92389" y="214884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and entitlement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92389" y="2587752"/>
            <a:ext cx="3186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Product, policy owners, finance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200400"/>
            <a:ext cx="3515258" cy="1417320"/>
          </a:xfrm>
          <a:prstGeom prst="roundRect">
            <a:avLst>
              <a:gd name="adj" fmla="val 5161"/>
            </a:avLst>
          </a:prstGeom>
          <a:solidFill>
            <a:srgbClr val="F5F6FC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34670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202A78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374904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and operating model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13232" y="4187952"/>
            <a:ext cx="3186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Finance, procurement, legal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338218" y="3200400"/>
            <a:ext cx="3515258" cy="1417320"/>
          </a:xfrm>
          <a:prstGeom prst="roundRect">
            <a:avLst>
              <a:gd name="adj" fmla="val 5161"/>
            </a:avLst>
          </a:prstGeom>
          <a:solidFill>
            <a:srgbClr val="F5F6FC"/>
          </a:solidFill>
          <a:ln/>
        </p:spPr>
      </p:sp>
      <p:sp>
        <p:nvSpPr>
          <p:cNvPr id="25" name="Shape 23"/>
          <p:cNvSpPr/>
          <p:nvPr/>
        </p:nvSpPr>
        <p:spPr>
          <a:xfrm>
            <a:off x="4502810" y="334670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2B3797"/>
          </a:solidFill>
          <a:ln/>
        </p:spPr>
      </p:sp>
      <p:sp>
        <p:nvSpPr>
          <p:cNvPr id="26" name="Text 24"/>
          <p:cNvSpPr/>
          <p:nvPr/>
        </p:nvSpPr>
        <p:spPr>
          <a:xfrm>
            <a:off x="4502810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02810" y="374904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 capability validation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2810" y="4187952"/>
            <a:ext cx="3186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Procurement, architects, engineers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127797" y="3200400"/>
            <a:ext cx="3515258" cy="1417320"/>
          </a:xfrm>
          <a:prstGeom prst="roundRect">
            <a:avLst>
              <a:gd name="adj" fmla="val 5161"/>
            </a:avLst>
          </a:prstGeom>
          <a:solidFill>
            <a:srgbClr val="F5F6FC"/>
          </a:solidFill>
          <a:ln/>
        </p:spPr>
      </p:sp>
      <p:sp>
        <p:nvSpPr>
          <p:cNvPr id="30" name="Shape 28"/>
          <p:cNvSpPr/>
          <p:nvPr/>
        </p:nvSpPr>
        <p:spPr>
          <a:xfrm>
            <a:off x="8292389" y="334670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202A78"/>
          </a:solidFill>
          <a:ln/>
        </p:spPr>
      </p:sp>
      <p:sp>
        <p:nvSpPr>
          <p:cNvPr id="31" name="Text 29"/>
          <p:cNvSpPr/>
          <p:nvPr/>
        </p:nvSpPr>
        <p:spPr>
          <a:xfrm>
            <a:off x="8292389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92389" y="374904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data, security &amp; privacy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92389" y="4187952"/>
            <a:ext cx="3186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Platform, IAM, security, privacy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8640" y="4800600"/>
            <a:ext cx="3515258" cy="1417320"/>
          </a:xfrm>
          <a:prstGeom prst="roundRect">
            <a:avLst>
              <a:gd name="adj" fmla="val 5161"/>
            </a:avLst>
          </a:prstGeom>
          <a:solidFill>
            <a:srgbClr val="F5F6FC"/>
          </a:solidFill>
          <a:ln/>
        </p:spPr>
      </p:sp>
      <p:sp>
        <p:nvSpPr>
          <p:cNvPr id="35" name="Shape 33"/>
          <p:cNvSpPr/>
          <p:nvPr/>
        </p:nvSpPr>
        <p:spPr>
          <a:xfrm>
            <a:off x="713232" y="494690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2B3797"/>
          </a:solidFill>
          <a:ln/>
        </p:spPr>
      </p:sp>
      <p:sp>
        <p:nvSpPr>
          <p:cNvPr id="36" name="Text 34"/>
          <p:cNvSpPr/>
          <p:nvPr/>
        </p:nvSpPr>
        <p:spPr>
          <a:xfrm>
            <a:off x="713232" y="494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13232" y="534924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spike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13232" y="5788152"/>
            <a:ext cx="3186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 and integration engineers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338218" y="4800600"/>
            <a:ext cx="3515258" cy="1417320"/>
          </a:xfrm>
          <a:prstGeom prst="roundRect">
            <a:avLst>
              <a:gd name="adj" fmla="val 5161"/>
            </a:avLst>
          </a:prstGeom>
          <a:solidFill>
            <a:srgbClr val="F5F6FC"/>
          </a:solidFill>
          <a:ln/>
        </p:spPr>
      </p:sp>
      <p:sp>
        <p:nvSpPr>
          <p:cNvPr id="40" name="Shape 38"/>
          <p:cNvSpPr/>
          <p:nvPr/>
        </p:nvSpPr>
        <p:spPr>
          <a:xfrm>
            <a:off x="4502810" y="494690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202A78"/>
          </a:solidFill>
          <a:ln/>
        </p:spPr>
      </p:sp>
      <p:sp>
        <p:nvSpPr>
          <p:cNvPr id="41" name="Text 39"/>
          <p:cNvSpPr/>
          <p:nvPr/>
        </p:nvSpPr>
        <p:spPr>
          <a:xfrm>
            <a:off x="4502810" y="494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02810" y="534924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 &amp; operational readiness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02810" y="5788152"/>
            <a:ext cx="3186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Product, SRE, support, security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27797" y="4800600"/>
            <a:ext cx="3515258" cy="1417320"/>
          </a:xfrm>
          <a:prstGeom prst="roundRect">
            <a:avLst>
              <a:gd name="adj" fmla="val 5161"/>
            </a:avLst>
          </a:prstGeom>
          <a:solidFill>
            <a:srgbClr val="F5F6FC"/>
          </a:solidFill>
          <a:ln/>
        </p:spPr>
      </p:sp>
      <p:sp>
        <p:nvSpPr>
          <p:cNvPr id="45" name="Shape 43"/>
          <p:cNvSpPr/>
          <p:nvPr/>
        </p:nvSpPr>
        <p:spPr>
          <a:xfrm>
            <a:off x="8292389" y="494690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2B3797"/>
          </a:solidFill>
          <a:ln/>
        </p:spPr>
      </p:sp>
      <p:sp>
        <p:nvSpPr>
          <p:cNvPr id="46" name="Text 44"/>
          <p:cNvSpPr/>
          <p:nvPr/>
        </p:nvSpPr>
        <p:spPr>
          <a:xfrm>
            <a:off x="8292389" y="494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92389" y="534924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planning and estimation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292389" y="5788152"/>
            <a:ext cx="3186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Product, architecture, delivery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NEXT STEPS AND WORKSHOPS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0 readiness gates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delivery planning only when: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85216" y="1947672"/>
            <a:ext cx="384048" cy="384048"/>
          </a:xfrm>
          <a:prstGeom prst="ellipse">
            <a:avLst/>
          </a:prstGeom>
          <a:solidFill>
            <a:srgbClr val="9A5A00"/>
          </a:solidFill>
          <a:ln/>
        </p:spPr>
      </p:sp>
      <p:pic>
        <p:nvPicPr>
          <p:cNvPr id="6" name="Image 0" descr="/Users/mohit.kanwar_1/projects/Accomodation-Booking-Solution/deck/assets/icons/alertTriang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" y="2043684"/>
            <a:ext cx="192024" cy="1920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92024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 affiliate eligibility and required API capabilities are confirmed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85216" y="2551176"/>
            <a:ext cx="384048" cy="384048"/>
          </a:xfrm>
          <a:prstGeom prst="ellipse">
            <a:avLst/>
          </a:prstGeom>
          <a:solidFill>
            <a:srgbClr val="9A5A00"/>
          </a:solidFill>
          <a:ln/>
        </p:spPr>
      </p:sp>
      <p:pic>
        <p:nvPicPr>
          <p:cNvPr id="9" name="Image 1" descr="/Users/mohit.kanwar_1/projects/Accomodation-Booking-Solution/deck/assets/icons/alertTriang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" y="2647188"/>
            <a:ext cx="192024" cy="19202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97280" y="252374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payment and merchant-of-record model is approved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85216" y="3154680"/>
            <a:ext cx="384048" cy="384048"/>
          </a:xfrm>
          <a:prstGeom prst="ellipse">
            <a:avLst/>
          </a:prstGeom>
          <a:solidFill>
            <a:srgbClr val="9A5A00"/>
          </a:solidFill>
          <a:ln/>
        </p:spPr>
      </p:sp>
      <p:pic>
        <p:nvPicPr>
          <p:cNvPr id="12" name="Image 2" descr="/Users/mohit.kanwar_1/projects/Accomodation-Booking-Solution/deck/assets/icons/alertTriang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" y="3250692"/>
            <a:ext cx="192024" cy="19202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312724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role and client context have an authoritative source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85216" y="3758184"/>
            <a:ext cx="384048" cy="384048"/>
          </a:xfrm>
          <a:prstGeom prst="ellipse">
            <a:avLst/>
          </a:prstGeom>
          <a:solidFill>
            <a:srgbClr val="9A5A00"/>
          </a:solidFill>
          <a:ln/>
        </p:spPr>
      </p:sp>
      <p:pic>
        <p:nvPicPr>
          <p:cNvPr id="15" name="Image 3" descr="/Users/mohit.kanwar_1/projects/Accomodation-Booking-Solution/deck/assets/icons/alertTriang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" y="3854196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97280" y="3730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calculations and exception ownership are unambiguous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85216" y="4361688"/>
            <a:ext cx="384048" cy="384048"/>
          </a:xfrm>
          <a:prstGeom prst="ellipse">
            <a:avLst/>
          </a:prstGeom>
          <a:solidFill>
            <a:srgbClr val="9A5A00"/>
          </a:solidFill>
          <a:ln/>
        </p:spPr>
      </p:sp>
      <p:pic>
        <p:nvPicPr>
          <p:cNvPr id="18" name="Image 4" descr="/Users/mohit.kanwar_1/projects/Accomodation-Booking-Solution/deck/assets/icons/alertTriang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" y="4457700"/>
            <a:ext cx="192024" cy="19202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097280" y="43342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operator/support model and reconciliation ownership are accepted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585216" y="4965192"/>
            <a:ext cx="384048" cy="384048"/>
          </a:xfrm>
          <a:prstGeom prst="ellipse">
            <a:avLst/>
          </a:prstGeom>
          <a:solidFill>
            <a:srgbClr val="9A5A00"/>
          </a:solidFill>
          <a:ln/>
        </p:spPr>
      </p:sp>
      <p:pic>
        <p:nvPicPr>
          <p:cNvPr id="21" name="Image 5" descr="/Users/mohit.kanwar_1/projects/Accomodation-Booking-Solution/deck/assets/icons/alertTriang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" y="5061204"/>
            <a:ext cx="192024" cy="192024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097280" y="49377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Privacy, security, data-retention, and commercial constraints are recorded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585216" y="5568696"/>
            <a:ext cx="384048" cy="384048"/>
          </a:xfrm>
          <a:prstGeom prst="ellipse">
            <a:avLst/>
          </a:prstGeom>
          <a:solidFill>
            <a:srgbClr val="9A5A00"/>
          </a:solidFill>
          <a:ln/>
        </p:spPr>
      </p:sp>
      <p:pic>
        <p:nvPicPr>
          <p:cNvPr id="24" name="Image 6" descr="/Users/mohit.kanwar_1/projects/Accomodation-Booking-Solution/deck/assets/icons/alertTriang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228" y="5664708"/>
            <a:ext cx="192024" cy="192024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1097280" y="55412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sandbox spike proves the critical search and booking path</a:t>
            </a:r>
            <a:endParaRPr lang="en-US" sz="1300" dirty="0"/>
          </a:p>
        </p:txBody>
      </p:sp>
      <p:sp>
        <p:nvSpPr>
          <p:cNvPr id="26" name="Text 1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NEXT STEPS AND WORKSHOPS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Suggested delivery path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393338" cy="3383280"/>
          </a:xfrm>
          <a:prstGeom prst="roundRect">
            <a:avLst>
              <a:gd name="adj" fmla="val 2703"/>
            </a:avLst>
          </a:prstGeom>
          <a:solidFill>
            <a:srgbClr val="F5F6F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0312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925269" y="2560320"/>
            <a:ext cx="640080" cy="64008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7" name="Image 0" descr="/Users/mohit.kanwar_1/projects/Accomodation-Booking-Solution/deck/assets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5289" y="272034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3337560"/>
            <a:ext cx="29361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request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8680" y="3886200"/>
            <a:ext cx="27532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demand, policy, operator queue, and manual completion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15130" y="3429000"/>
            <a:ext cx="310896" cy="274320"/>
          </a:xfrm>
          <a:prstGeom prst="rightArrow">
            <a:avLst/>
          </a:prstGeom>
          <a:solidFill>
            <a:srgbClr val="C9CEE8"/>
          </a:solidFill>
          <a:ln/>
        </p:spPr>
      </p:sp>
      <p:sp>
        <p:nvSpPr>
          <p:cNvPr id="11" name="Shape 8"/>
          <p:cNvSpPr/>
          <p:nvPr/>
        </p:nvSpPr>
        <p:spPr>
          <a:xfrm>
            <a:off x="4399178" y="1920240"/>
            <a:ext cx="3393338" cy="3383280"/>
          </a:xfrm>
          <a:prstGeom prst="roundRect">
            <a:avLst>
              <a:gd name="adj" fmla="val 2703"/>
            </a:avLst>
          </a:prstGeom>
          <a:solidFill>
            <a:srgbClr val="F5F6FC"/>
          </a:solidFill>
          <a:ln/>
        </p:spPr>
      </p:sp>
      <p:sp>
        <p:nvSpPr>
          <p:cNvPr id="12" name="Text 9"/>
          <p:cNvSpPr/>
          <p:nvPr/>
        </p:nvSpPr>
        <p:spPr>
          <a:xfrm>
            <a:off x="4627778" y="210312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775808" y="2560320"/>
            <a:ext cx="640080" cy="64008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4" name="Image 1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5828" y="2720340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27778" y="3337560"/>
            <a:ext cx="29361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operator booking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719218" y="3886200"/>
            <a:ext cx="27532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preview/create, confirmation, recovery, and reconciliation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865669" y="3429000"/>
            <a:ext cx="310896" cy="274320"/>
          </a:xfrm>
          <a:prstGeom prst="rightArrow">
            <a:avLst/>
          </a:prstGeom>
          <a:solidFill>
            <a:srgbClr val="C9CEE8"/>
          </a:solidFill>
          <a:ln/>
        </p:spPr>
      </p:sp>
      <p:sp>
        <p:nvSpPr>
          <p:cNvPr id="18" name="Shape 14"/>
          <p:cNvSpPr/>
          <p:nvPr/>
        </p:nvSpPr>
        <p:spPr>
          <a:xfrm>
            <a:off x="8249717" y="1920240"/>
            <a:ext cx="3393338" cy="3383280"/>
          </a:xfrm>
          <a:prstGeom prst="roundRect">
            <a:avLst>
              <a:gd name="adj" fmla="val 2703"/>
            </a:avLst>
          </a:prstGeom>
          <a:solidFill>
            <a:srgbClr val="F5F6FC"/>
          </a:solidFill>
          <a:ln/>
        </p:spPr>
      </p:sp>
      <p:sp>
        <p:nvSpPr>
          <p:cNvPr id="19" name="Text 15"/>
          <p:cNvSpPr/>
          <p:nvPr/>
        </p:nvSpPr>
        <p:spPr>
          <a:xfrm>
            <a:off x="8478317" y="210312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626346" y="2560320"/>
            <a:ext cx="640080" cy="64008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1" name="Image 2" descr="/Users/mohit.kanwar_1/projects/Accomodation-Booking-Solution/deck/assets/icons/trending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6366" y="2720340"/>
            <a:ext cx="320040" cy="3200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478317" y="3337560"/>
            <a:ext cx="29361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Post-booking and optimisation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8569757" y="3886200"/>
            <a:ext cx="27532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supported servicing, reporting, automation, future suppliers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B379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3017520"/>
            <a:ext cx="5486400" cy="54864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1000" dirty="0"/>
          </a:p>
        </p:txBody>
      </p:sp>
      <p:sp>
        <p:nvSpPr>
          <p:cNvPr id="4" name="Shape 2"/>
          <p:cNvSpPr/>
          <p:nvPr/>
        </p:nvSpPr>
        <p:spPr>
          <a:xfrm>
            <a:off x="4229100" y="2519172"/>
            <a:ext cx="960120" cy="96012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5" name="Image 0" descr="/Users/mohit.kanwar_1/projects/Accomodation-Booking-Solution/deck/assets/icons/messageSqu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9130" y="2759202"/>
            <a:ext cx="480060" cy="4800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49240" y="251460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 and Decision Recap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349240" y="3520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3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Q&amp;A AND DECISION 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Immediate actions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566928"/>
          </a:xfrm>
          <a:prstGeom prst="roundRect">
            <a:avLst>
              <a:gd name="adj" fmla="val 9677"/>
            </a:avLst>
          </a:prstGeom>
          <a:solidFill>
            <a:srgbClr val="F5F6FC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792224"/>
            <a:ext cx="365760" cy="36576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6" name="Image 0" descr="/Users/mohit.kanwar_1/projects/Accomodation-Booking-Solution/deck/assets/icons/arrow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892808"/>
            <a:ext cx="164592" cy="1645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691640"/>
            <a:ext cx="8991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Nominate business, product, and technical decision owners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180015" y="16916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TBD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" y="2404872"/>
            <a:ext cx="11094415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9808" y="2505456"/>
            <a:ext cx="365760" cy="36576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1" name="Image 1" descr="/Users/mohit.kanwar_1/projects/Accomodation-Booking-Solution/deck/assets/icons/arrow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606040"/>
            <a:ext cx="164592" cy="1645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34440" y="2404872"/>
            <a:ext cx="8991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Booking.com commercial/API validation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180015" y="240487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TBD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118104"/>
            <a:ext cx="11094415" cy="566928"/>
          </a:xfrm>
          <a:prstGeom prst="roundRect">
            <a:avLst>
              <a:gd name="adj" fmla="val 9677"/>
            </a:avLst>
          </a:prstGeom>
          <a:solidFill>
            <a:srgbClr val="F5F6FC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49808" y="3218688"/>
            <a:ext cx="365760" cy="36576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6" name="Image 2" descr="/Users/mohit.kanwar_1/projects/Accomodation-Booking-Solution/deck/assets/icons/arrow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3319272"/>
            <a:ext cx="164592" cy="1645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34440" y="3118104"/>
            <a:ext cx="8991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policy and payment workshops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0180015" y="311810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TBD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831336"/>
            <a:ext cx="11094415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49808" y="3931920"/>
            <a:ext cx="365760" cy="36576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1" name="Image 3" descr="/Users/mohit.kanwar_1/projects/Accomodation-Booking-Solution/deck/assets/icons/arrowR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4032504"/>
            <a:ext cx="164592" cy="16459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34440" y="3831336"/>
            <a:ext cx="8991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employee-role and destination data sources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10180015" y="3831336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TBD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48640" y="4544568"/>
            <a:ext cx="11094415" cy="566928"/>
          </a:xfrm>
          <a:prstGeom prst="roundRect">
            <a:avLst>
              <a:gd name="adj" fmla="val 9677"/>
            </a:avLst>
          </a:prstGeom>
          <a:solidFill>
            <a:srgbClr val="F5F6FC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49808" y="4645152"/>
            <a:ext cx="365760" cy="36576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6" name="Image 4" descr="/Users/mohit.kanwar_1/projects/Accomodation-Booking-Solution/deck/assets/icons/arrowR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745736"/>
            <a:ext cx="164592" cy="16459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234440" y="4544568"/>
            <a:ext cx="8991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sandbox technical spike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0180015" y="454456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TBD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548640" y="5257800"/>
            <a:ext cx="11094415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749808" y="5358384"/>
            <a:ext cx="365760" cy="36576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31" name="Image 5" descr="/Users/mohit.kanwar_1/projects/Accomodation-Booking-Solution/deck/assets/icons/arrowRigh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458968"/>
            <a:ext cx="164592" cy="16459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234440" y="5257800"/>
            <a:ext cx="8991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MVP after readiness-gate playback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10180015" y="525780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TBD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B379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286000"/>
            <a:ext cx="5486400" cy="54864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3" name="Shape 1"/>
          <p:cNvSpPr/>
          <p:nvPr/>
        </p:nvSpPr>
        <p:spPr>
          <a:xfrm>
            <a:off x="8991295" y="3657600"/>
            <a:ext cx="5029200" cy="50292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4" name="Shape 2"/>
          <p:cNvSpPr/>
          <p:nvPr/>
        </p:nvSpPr>
        <p:spPr>
          <a:xfrm>
            <a:off x="5501488" y="1691640"/>
            <a:ext cx="1188720" cy="118872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5" name="Image 0" descr="/Users/mohit.kanwar_1/projects/Accomodation-Booking-Solution/deck/assets/icons/messageSqu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98668" y="1988820"/>
            <a:ext cx="59436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301752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0" y="379476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0" y="47548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close: agreed decisions, unresolved blockers, owners, and dates.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Sodexo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Accommodation Booking Solution — Initial Discovery</dc:title>
  <dc:subject>PptxGenJS Presentation</dc:subject>
  <dc:creator>Mohit Kanwar</dc:creator>
  <cp:lastModifiedBy>Mohit Kanwar</cp:lastModifiedBy>
  <cp:revision>1</cp:revision>
  <dcterms:created xsi:type="dcterms:W3CDTF">2026-07-27T05:37:00Z</dcterms:created>
  <dcterms:modified xsi:type="dcterms:W3CDTF">2026-07-27T05:37:00Z</dcterms:modified>
</cp:coreProperties>
</file>