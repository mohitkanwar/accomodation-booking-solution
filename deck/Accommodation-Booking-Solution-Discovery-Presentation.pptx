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image" Target="../media/image-24-1.png"/><Relationship Id="rId6" Type="http://schemas.openxmlformats.org/officeDocument/2006/relationships/image" Target="../media/image-24-1.png"/><Relationship Id="rId7" Type="http://schemas.openxmlformats.org/officeDocument/2006/relationships/image" Target="../media/image-24-1.png"/><Relationship Id="rId8" Type="http://schemas.openxmlformats.org/officeDocument/2006/relationships/image" Target="../media/image-24-1.png"/><Relationship Id="rId9" Type="http://schemas.openxmlformats.org/officeDocument/2006/relationships/image" Target="../media/image-24-1.png"/><Relationship Id="rId10" Type="http://schemas.openxmlformats.org/officeDocument/2006/relationships/image" Target="../media/image-24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image" Target="../media/image-28-1.png"/><Relationship Id="rId5" Type="http://schemas.openxmlformats.org/officeDocument/2006/relationships/image" Target="../media/image-28-1.png"/><Relationship Id="rId6" Type="http://schemas.openxmlformats.org/officeDocument/2006/relationships/image" Target="../media/image-28-1.png"/><Relationship Id="rId7" Type="http://schemas.openxmlformats.org/officeDocument/2006/relationships/image" Target="../media/image-28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1.png"/><Relationship Id="rId5" Type="http://schemas.openxmlformats.org/officeDocument/2006/relationships/image" Target="../media/image-31-1.png"/><Relationship Id="rId6" Type="http://schemas.openxmlformats.org/officeDocument/2006/relationships/image" Target="../media/image-3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797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-2011680"/>
            <a:ext cx="5943600" cy="59436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480560"/>
            <a:ext cx="4572000" cy="45720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39348" y="888797"/>
            <a:ext cx="385511" cy="124724"/>
          </a:xfrm>
          <a:prstGeom prst="rect">
            <a:avLst/>
          </a:prstGeom>
          <a:solidFill>
            <a:srgbClr val="2B3797"/>
          </a:solidFill>
          <a:ln/>
        </p:spPr>
      </p:sp>
      <p:sp>
        <p:nvSpPr>
          <p:cNvPr id="7" name="Shape 5"/>
          <p:cNvSpPr/>
          <p:nvPr/>
        </p:nvSpPr>
        <p:spPr>
          <a:xfrm>
            <a:off x="639348" y="849112"/>
            <a:ext cx="385511" cy="51024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8" name="Shape 6"/>
          <p:cNvSpPr/>
          <p:nvPr/>
        </p:nvSpPr>
        <p:spPr>
          <a:xfrm>
            <a:off x="662026" y="707380"/>
            <a:ext cx="124724" cy="141732"/>
          </a:xfrm>
          <a:prstGeom prst="rect">
            <a:avLst/>
          </a:prstGeom>
          <a:solidFill>
            <a:srgbClr val="2B3797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" y="639348"/>
            <a:ext cx="124724" cy="209763"/>
          </a:xfrm>
          <a:prstGeom prst="rect">
            <a:avLst/>
          </a:prstGeom>
          <a:solidFill>
            <a:srgbClr val="2B3797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548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Accommodation Booking Solution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Discovery Presentation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02A7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session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owners, product owners, operations, and technology teams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this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shared understanding of Tetrapak’s request, expose the decisions that determine scope and feasibility, and agree the work required to reach delivery readiness.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FF4D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final solution design or delivery commitment — the data model, flows, and principles are initial hypotheses to support discussion.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OUTCOMES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464994" cy="2651760"/>
          </a:xfrm>
          <a:prstGeom prst="roundRect">
            <a:avLst>
              <a:gd name="adj" fmla="val 2968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0" name="Image 0" descr="/Users/mohit.kanwar_1/projects/Accomodation-Booking-Solution/deck/asse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77190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3639312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scope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191635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the feature solves for Tetrapak employees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25114" y="3474720"/>
            <a:ext cx="2464994" cy="2651760"/>
          </a:xfrm>
          <a:prstGeom prst="roundRect">
            <a:avLst>
              <a:gd name="adj" fmla="val 2968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2274" y="365760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15" name="Image 1" descr="/Users/mohit.kanwar_1/projects/Accomodation-Booking-Solution/deck/assets/icons/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574" y="37719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0914" y="3639312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list of unknowns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99434" y="4160520"/>
            <a:ext cx="191635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product, commercial, and technical questions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1588" y="3474720"/>
            <a:ext cx="2464994" cy="2651760"/>
          </a:xfrm>
          <a:prstGeom prst="roundRect">
            <a:avLst>
              <a:gd name="adj" fmla="val 2968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38748" y="365760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0" name="Image 2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377190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87388" y="3639312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boundaries tested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75908" y="4160520"/>
            <a:ext cx="191635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or challenge of the initial domain and integrations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178061" y="3474720"/>
            <a:ext cx="2464994" cy="2651760"/>
          </a:xfrm>
          <a:prstGeom prst="roundRect">
            <a:avLst>
              <a:gd name="adj" fmla="val 2968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15221" y="365760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5" name="Image 3" descr="/Users/mohit.kanwar_1/projects/Accomodation-Booking-Solution/deck/assets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521" y="377190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63861" y="3639312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452381" y="4160520"/>
            <a:ext cx="191635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validation workshops and blocking decisions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NEXT HOUR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8408" y="1801368"/>
            <a:ext cx="0" cy="3621024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understanding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71455" y="158191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9" name="Text 7"/>
          <p:cNvSpPr/>
          <p:nvPr/>
        </p:nvSpPr>
        <p:spPr>
          <a:xfrm>
            <a:off x="10271455" y="15819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203704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76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8541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71455" y="21854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807208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7797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71455" y="278892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10271455" y="2788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271455" y="339242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71455" y="33924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014216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71455" y="399592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10271455" y="3995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4617720"/>
            <a:ext cx="402336" cy="402336"/>
          </a:xfrm>
          <a:prstGeom prst="ellipse">
            <a:avLst/>
          </a:prstGeom>
          <a:solidFill>
            <a:srgbClr val="2B3797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workshops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71455" y="459943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271455" y="45994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5221224"/>
            <a:ext cx="402336" cy="402336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221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5193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decision recap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271455" y="520293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5F6FC"/>
          </a:solidFill>
          <a:ln/>
        </p:spPr>
      </p:sp>
      <p:sp>
        <p:nvSpPr>
          <p:cNvPr id="39" name="Text 37"/>
          <p:cNvSpPr/>
          <p:nvPr/>
        </p:nvSpPr>
        <p:spPr>
          <a:xfrm>
            <a:off x="10271455" y="5202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17320" y="5870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60 minutes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and Understanding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heard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Tetrapak wants eligible employees travelling between offices to request accommodation inside the existing Sodexo B2C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85416"/>
            <a:ext cx="512064" cy="512064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6" name="Image 0" descr="/Users/mohit.kanwar_1/projects/Accomodation-Booking-Solution/deck/asse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3134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4884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experience is a React micro frontend, composed as a B2C Lego.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97016" y="2185416"/>
            <a:ext cx="512064" cy="512064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9" name="Image 1" descr="/Users/mohit.kanwar_1/projects/Accomodation-Booking-Solution/deck/asse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032" y="23134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18808" y="214884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B2C authentication identifies the employee and client.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" y="3419856"/>
            <a:ext cx="512064" cy="512064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2" name="Image 2" descr="/Users/mohit.kanwar_1/projects/Accomodation-Booking-Solution/deck/assets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4787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8328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accommodation comes from Booking.com.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97016" y="3419856"/>
            <a:ext cx="512064" cy="512064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15" name="Image 3" descr="/Users/mohit.kanwar_1/projects/Accomodation-Booking-Solution/deck/assets/icons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32" y="35478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18808" y="338328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price limits vary by client, employee level, and destination.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66928" y="4654296"/>
            <a:ext cx="512064" cy="512064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8" name="Image 4" descr="/Users/mohit.kanwar_1/projects/Accomodation-Booking-Solution/deck/assets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78231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61772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Tetrapak operator reviews requests and creates the real booking.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297016" y="4654296"/>
            <a:ext cx="512064" cy="512064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1" name="Image 5" descr="/Users/mohit.kanwar_1/projects/Accomodation-Booking-Solution/deck/assets/icons/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032" y="47823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18808" y="4617720"/>
            <a:ext cx="472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administration capability manages destinations, role levels, policies, and technical configuration.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accommodation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client corporations and multiple provider corporations, coordinated by Sodexo. Every corporation keeps its own users and organisational boundary.</a:t>
            </a:r>
            <a:endParaRPr lang="en-US" sz="1350" dirty="0"/>
          </a:p>
        </p:txBody>
      </p:sp>
      <p:pic>
        <p:nvPicPr>
          <p:cNvPr id="5" name="Image 0" descr="/Users/mohit.kanwar_1/projects/Accomodation-Booking-Solution/deck/assets/diagrams/corporate-user-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874520"/>
            <a:ext cx="7863840" cy="4212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 across three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4298" cy="470916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 w="12700">
            <a:solidFill>
              <a:srgbClr val="C9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454298" cy="502920"/>
          </a:xfrm>
          <a:prstGeom prst="roundRect">
            <a:avLst>
              <a:gd name="adj" fmla="val 18182"/>
            </a:avLst>
          </a:prstGeom>
          <a:solidFill>
            <a:srgbClr val="2B379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64792"/>
            <a:ext cx="3454298" cy="246888"/>
          </a:xfrm>
          <a:prstGeom prst="rect">
            <a:avLst/>
          </a:prstGeom>
          <a:solidFill>
            <a:srgbClr val="2B379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CORPORATION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9" name="Image 0" descr="/Users/mohit.kanwar_1/projects/Accomodation-Booking-Solution/deck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5374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22860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98448" y="27614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Searches, submits requests, tracks outcomes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3" name="Image 1" descr="/Users/mohit.kanwar_1/projects/Accomodation-Booking-Solution/deck/assets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9090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36576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298448" y="41330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rejects, or seeks clarification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7" name="Image 2" descr="/Users/mohit.kanwar_1/projects/Accomodation-Booking-Solution/deck/assets/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52806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50292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Administrator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98448" y="55046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policy, roles, destinations, price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368698" y="1508760"/>
            <a:ext cx="3454298" cy="470916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 w="12700">
            <a:solidFill>
              <a:srgbClr val="C9CE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368698" y="1508760"/>
            <a:ext cx="3454298" cy="502920"/>
          </a:xfrm>
          <a:prstGeom prst="roundRect">
            <a:avLst>
              <a:gd name="adj" fmla="val 18182"/>
            </a:avLst>
          </a:prstGeom>
          <a:solidFill>
            <a:srgbClr val="202A78"/>
          </a:solidFill>
          <a:ln/>
        </p:spPr>
      </p:sp>
      <p:sp>
        <p:nvSpPr>
          <p:cNvPr id="22" name="Shape 17"/>
          <p:cNvSpPr/>
          <p:nvPr/>
        </p:nvSpPr>
        <p:spPr>
          <a:xfrm>
            <a:off x="4368698" y="1764792"/>
            <a:ext cx="3454298" cy="246888"/>
          </a:xfrm>
          <a:prstGeom prst="rect">
            <a:avLst/>
          </a:prstGeom>
          <a:solidFill>
            <a:srgbClr val="202A78"/>
          </a:solidFill>
          <a:ln/>
        </p:spPr>
      </p:sp>
      <p:sp>
        <p:nvSpPr>
          <p:cNvPr id="23" name="Text 18"/>
          <p:cNvSpPr/>
          <p:nvPr/>
        </p:nvSpPr>
        <p:spPr>
          <a:xfrm>
            <a:off x="4505858" y="15087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51578" y="242316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5" name="Image 3" descr="/Users/mohit.kanwar_1/projects/Accomodation-Booking-Solution/deck/assets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878" y="253746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18506" y="22860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Operator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118506" y="27614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requests, creates the reservation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51578" y="379476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9" name="Image 4" descr="/Users/mohit.kanwar_1/projects/Accomodation-Booking-Solution/deck/assets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878" y="390906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18506" y="36576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 Administrator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118506" y="41330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tenants, integrations, reporting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188757" y="1508760"/>
            <a:ext cx="3454298" cy="470916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 w="12700">
            <a:solidFill>
              <a:srgbClr val="C9CEE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188757" y="1508760"/>
            <a:ext cx="3454298" cy="502920"/>
          </a:xfrm>
          <a:prstGeom prst="roundRect">
            <a:avLst>
              <a:gd name="adj" fmla="val 18182"/>
            </a:avLst>
          </a:prstGeom>
          <a:solidFill>
            <a:srgbClr val="ED1C24"/>
          </a:solidFill>
          <a:ln/>
        </p:spPr>
      </p:sp>
      <p:sp>
        <p:nvSpPr>
          <p:cNvPr id="34" name="Shape 27"/>
          <p:cNvSpPr/>
          <p:nvPr/>
        </p:nvSpPr>
        <p:spPr>
          <a:xfrm>
            <a:off x="8188757" y="1764792"/>
            <a:ext cx="3454298" cy="24688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5" name="Text 28"/>
          <p:cNvSpPr/>
          <p:nvPr/>
        </p:nvSpPr>
        <p:spPr>
          <a:xfrm>
            <a:off x="8325917" y="15087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CORPORATION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371637" y="2423160"/>
            <a:ext cx="457200" cy="457200"/>
          </a:xfrm>
          <a:prstGeom prst="ellipse">
            <a:avLst/>
          </a:prstGeom>
          <a:solidFill>
            <a:srgbClr val="ED1C24"/>
          </a:solidFill>
          <a:ln/>
        </p:spPr>
      </p:sp>
      <p:pic>
        <p:nvPicPr>
          <p:cNvPr id="37" name="Image 5" descr="/Users/mohit.kanwar_1/projects/Accomodation-Booking-Solution/deck/assets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937" y="253746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38565" y="22860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Provider Agent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938565" y="2761488"/>
            <a:ext cx="253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reservations, manages content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journey, combined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traveller journeys, in one map — the primary path plus every supporting action available at each stage.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54148" cy="868680"/>
          </a:xfrm>
          <a:prstGeom prst="roundRect">
            <a:avLst>
              <a:gd name="adj" fmla="val 10526"/>
            </a:avLst>
          </a:prstGeom>
          <a:solidFill>
            <a:srgbClr val="2B3797"/>
          </a:solidFill>
          <a:ln/>
        </p:spPr>
      </p:sp>
      <p:pic>
        <p:nvPicPr>
          <p:cNvPr id="6" name="Image 0" descr="/Users/mohit.kanwar_1/projects/Accomodation-Booking-Solution/deck/assets/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25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600200"/>
            <a:ext cx="17220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&amp; search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21076" y="1933956"/>
            <a:ext cx="256032" cy="201168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9" name="Shape 6"/>
          <p:cNvSpPr/>
          <p:nvPr/>
        </p:nvSpPr>
        <p:spPr>
          <a:xfrm>
            <a:off x="3395396" y="1600200"/>
            <a:ext cx="2554148" cy="868680"/>
          </a:xfrm>
          <a:prstGeom prst="roundRect">
            <a:avLst>
              <a:gd name="adj" fmla="val 10526"/>
            </a:avLst>
          </a:prstGeom>
          <a:solidFill>
            <a:srgbClr val="2B3797"/>
          </a:solidFill>
          <a:ln/>
        </p:spPr>
      </p:sp>
      <p:pic>
        <p:nvPicPr>
          <p:cNvPr id="10" name="Image 1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64" y="1842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90340" y="1600200"/>
            <a:ext cx="17220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67832" y="1933956"/>
            <a:ext cx="256032" cy="201168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3" name="Shape 9"/>
          <p:cNvSpPr/>
          <p:nvPr/>
        </p:nvSpPr>
        <p:spPr>
          <a:xfrm>
            <a:off x="6242152" y="1600200"/>
            <a:ext cx="2554148" cy="868680"/>
          </a:xfrm>
          <a:prstGeom prst="roundRect">
            <a:avLst>
              <a:gd name="adj" fmla="val 10526"/>
            </a:avLst>
          </a:prstGeom>
          <a:solidFill>
            <a:srgbClr val="202A78"/>
          </a:solidFill>
          <a:ln/>
        </p:spPr>
      </p:sp>
      <p:pic>
        <p:nvPicPr>
          <p:cNvPr id="14" name="Image 2" descr="/Users/mohit.kanwar_1/projects/Accomodation-Booking-Solution/deck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320" y="184251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37096" y="1600200"/>
            <a:ext cx="17220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approval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14587" y="1933956"/>
            <a:ext cx="256032" cy="201168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7" name="Shape 12"/>
          <p:cNvSpPr/>
          <p:nvPr/>
        </p:nvSpPr>
        <p:spPr>
          <a:xfrm>
            <a:off x="9088907" y="1600200"/>
            <a:ext cx="2554148" cy="868680"/>
          </a:xfrm>
          <a:prstGeom prst="roundRect">
            <a:avLst>
              <a:gd name="adj" fmla="val 10526"/>
            </a:avLst>
          </a:prstGeom>
          <a:solidFill>
            <a:srgbClr val="187A5A"/>
          </a:solidFill>
          <a:ln/>
        </p:spPr>
      </p:sp>
      <p:pic>
        <p:nvPicPr>
          <p:cNvPr id="18" name="Image 3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075" y="184251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83851" y="1600200"/>
            <a:ext cx="17220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booked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519226" y="2468880"/>
            <a:ext cx="0" cy="210312"/>
          </a:xfrm>
          <a:prstGeom prst="line">
            <a:avLst/>
          </a:prstGeom>
          <a:noFill/>
          <a:ln w="25400">
            <a:solidFill>
              <a:srgbClr val="C9CEE8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548640" y="27249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AWAITING APPROVAL, THE TRAVELLER CAN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30632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23" name="Shape 17"/>
          <p:cNvSpPr/>
          <p:nvPr/>
        </p:nvSpPr>
        <p:spPr>
          <a:xfrm>
            <a:off x="1613116" y="3154680"/>
            <a:ext cx="438912" cy="438912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4" name="Image 4" descr="/Users/mohit.kanwar_1/projects/Accomodation-Booking-Solution/deck/assets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844" y="326440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8368" y="3630168"/>
            <a:ext cx="234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request status &amp; details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390824" y="30632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27" name="Shape 20"/>
          <p:cNvSpPr/>
          <p:nvPr/>
        </p:nvSpPr>
        <p:spPr>
          <a:xfrm>
            <a:off x="4455300" y="3154680"/>
            <a:ext cx="438912" cy="438912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8" name="Image 5" descr="/Users/mohit.kanwar_1/projects/Accomodation-Booking-Solution/deck/assets/icons/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028" y="3264408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00552" y="3630168"/>
            <a:ext cx="234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destination, dates, or requirements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233008" y="30632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31" name="Shape 23"/>
          <p:cNvSpPr/>
          <p:nvPr/>
        </p:nvSpPr>
        <p:spPr>
          <a:xfrm>
            <a:off x="7297484" y="3154680"/>
            <a:ext cx="438912" cy="438912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32" name="Image 6" descr="/Users/mohit.kanwar_1/projects/Accomodation-Booking-Solution/deck/assets/icons/messageSqu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7212" y="3264408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42736" y="3630168"/>
            <a:ext cx="234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follow-up reminder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9075191" y="30632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35" name="Shape 26"/>
          <p:cNvSpPr/>
          <p:nvPr/>
        </p:nvSpPr>
        <p:spPr>
          <a:xfrm>
            <a:off x="10139667" y="3154680"/>
            <a:ext cx="438912" cy="438912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36" name="Image 7" descr="/Users/mohit.kanwar_1/projects/Accomodation-Booking-Solution/deck/assets/icons/x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95" y="3264408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184919" y="3630168"/>
            <a:ext cx="234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request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10365981" y="2468880"/>
            <a:ext cx="0" cy="1920240"/>
          </a:xfrm>
          <a:prstGeom prst="line">
            <a:avLst/>
          </a:prstGeom>
          <a:noFill/>
          <a:ln w="25400">
            <a:solidFill>
              <a:srgbClr val="C9CEE8"/>
            </a:solidFill>
            <a:prstDash val="dash"/>
          </a:ln>
        </p:spPr>
      </p:sp>
      <p:sp>
        <p:nvSpPr>
          <p:cNvPr id="39" name="Text 29"/>
          <p:cNvSpPr/>
          <p:nvPr/>
        </p:nvSpPr>
        <p:spPr>
          <a:xfrm>
            <a:off x="548640" y="4434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8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THE TRAVELLER CAN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548640" y="477316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41" name="Shape 31"/>
          <p:cNvSpPr/>
          <p:nvPr/>
        </p:nvSpPr>
        <p:spPr>
          <a:xfrm>
            <a:off x="2086813" y="4864608"/>
            <a:ext cx="438912" cy="438912"/>
          </a:xfrm>
          <a:prstGeom prst="ellipse">
            <a:avLst/>
          </a:prstGeom>
          <a:solidFill>
            <a:srgbClr val="187A5A"/>
          </a:solidFill>
          <a:ln/>
        </p:spPr>
      </p:sp>
      <p:pic>
        <p:nvPicPr>
          <p:cNvPr id="42" name="Image 8" descr="/Users/mohit.kanwar_1/projects/Accomodation-Booking-Solution/deck/assets/icons/downlo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6541" y="4974336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58368" y="5340096"/>
            <a:ext cx="3295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email the confirmation letter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4338218" y="477316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45" name="Shape 34"/>
          <p:cNvSpPr/>
          <p:nvPr/>
        </p:nvSpPr>
        <p:spPr>
          <a:xfrm>
            <a:off x="5876392" y="4864608"/>
            <a:ext cx="438912" cy="438912"/>
          </a:xfrm>
          <a:prstGeom prst="ellipse">
            <a:avLst/>
          </a:prstGeom>
          <a:solidFill>
            <a:srgbClr val="187A5A"/>
          </a:solidFill>
          <a:ln/>
        </p:spPr>
      </p:sp>
      <p:pic>
        <p:nvPicPr>
          <p:cNvPr id="46" name="Image 9" descr="/Users/mohit.kanwar_1/projects/Accomodation-Booking-Solution/deck/assets/icons/pho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6120" y="4974336"/>
            <a:ext cx="219456" cy="21945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447946" y="5340096"/>
            <a:ext cx="3295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accommodation contact details</a:t>
            </a:r>
            <a:endParaRPr lang="en-US" sz="1050" dirty="0"/>
          </a:p>
        </p:txBody>
      </p:sp>
      <p:sp>
        <p:nvSpPr>
          <p:cNvPr id="48" name="Shape 36"/>
          <p:cNvSpPr/>
          <p:nvPr/>
        </p:nvSpPr>
        <p:spPr>
          <a:xfrm>
            <a:off x="8127797" y="477316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5F6FC"/>
          </a:solidFill>
          <a:ln/>
        </p:spPr>
      </p:sp>
      <p:sp>
        <p:nvSpPr>
          <p:cNvPr id="49" name="Shape 37"/>
          <p:cNvSpPr/>
          <p:nvPr/>
        </p:nvSpPr>
        <p:spPr>
          <a:xfrm>
            <a:off x="9665970" y="4864608"/>
            <a:ext cx="438912" cy="438912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50" name="Image 10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5698" y="4974336"/>
            <a:ext cx="219456" cy="21945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8237525" y="5340096"/>
            <a:ext cx="3295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booking issue</a:t>
            </a:r>
            <a:endParaRPr lang="en-US" sz="1050" dirty="0"/>
          </a:p>
        </p:txBody>
      </p:sp>
      <p:sp>
        <p:nvSpPr>
          <p:cNvPr id="52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context, simplified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916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Traveller, Approver, 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B379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7432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 Users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6916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16916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 B2C App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host + Lego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743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B3797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27432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Application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Sodexo employee webapp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9202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9202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Capability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policy · approval · booking · admin · audit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3258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5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8110728" y="132588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Employee Context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client, role attributes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1000" y="2514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28" y="251460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Core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availability, price, orders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3703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5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8110728" y="370332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decision, booking updates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2080260"/>
            <a:ext cx="502920" cy="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131820"/>
            <a:ext cx="502920" cy="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080260"/>
            <a:ext cx="502920" cy="25146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31820"/>
            <a:ext cx="502920" cy="-25146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103120"/>
            <a:ext cx="502920" cy="-29718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606040"/>
            <a:ext cx="502920" cy="38862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3108960"/>
            <a:ext cx="502920" cy="1074420"/>
          </a:xfrm>
          <a:prstGeom prst="line">
            <a:avLst/>
          </a:prstGeom>
          <a:noFill/>
          <a:ln w="25400">
            <a:solidFill>
              <a:srgbClr val="C9C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accommodation booking capability is the system in scope. Internal containers and implementation choices are deferred to the architecture views.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CONTEXT AND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first-release boundary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4206240"/>
          </a:xfrm>
          <a:prstGeom prst="roundRect">
            <a:avLst>
              <a:gd name="adj" fmla="val 2174"/>
            </a:avLst>
          </a:prstGeom>
          <a:solidFill>
            <a:srgbClr val="DDF2E9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" y="1805940"/>
            <a:ext cx="502920" cy="502920"/>
          </a:xfrm>
          <a:prstGeom prst="ellipse">
            <a:avLst/>
          </a:prstGeom>
          <a:solidFill>
            <a:srgbClr val="187A5A"/>
          </a:solidFill>
          <a:ln/>
        </p:spPr>
      </p:sp>
      <p:pic>
        <p:nvPicPr>
          <p:cNvPr id="6" name="Image 0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37" y="19190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852928"/>
            <a:ext cx="467852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Destination/site selection and search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filter, and map views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result and explanation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submission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queue and decision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Operator-triggered booking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Confirmation, administration, notifications, and audit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4448" y="1600200"/>
            <a:ext cx="5318608" cy="4206240"/>
          </a:xfrm>
          <a:prstGeom prst="roundRect">
            <a:avLst>
              <a:gd name="adj" fmla="val 2174"/>
            </a:avLst>
          </a:prstGeom>
          <a:solidFill>
            <a:srgbClr val="FBDADD"/>
          </a:solidFill>
          <a:ln/>
        </p:spPr>
      </p:sp>
      <p:sp>
        <p:nvSpPr>
          <p:cNvPr id="11" name="Shape 8"/>
          <p:cNvSpPr/>
          <p:nvPr/>
        </p:nvSpPr>
        <p:spPr>
          <a:xfrm>
            <a:off x="6530188" y="1805940"/>
            <a:ext cx="502920" cy="502920"/>
          </a:xfrm>
          <a:prstGeom prst="ellipse">
            <a:avLst/>
          </a:prstGeom>
          <a:solidFill>
            <a:srgbClr val="ED1C24"/>
          </a:solidFill>
          <a:ln/>
        </p:spPr>
      </p:sp>
      <p:pic>
        <p:nvPicPr>
          <p:cNvPr id="12" name="Image 1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345" y="19190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7408" y="18288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ASSUMED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44488" y="246888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44488" y="2852928"/>
            <a:ext cx="467852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self-booking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or ground transport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 multi-city travel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suppliers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modification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finance reconciliation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Questions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DISCOVERY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and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42955" y="571500"/>
            <a:ext cx="685800" cy="6858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5" name="Image 0" descr="/Users/mohit.kanwar_1/projects/Accomodation-Booking-Solution/deck/asse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405" y="7429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outcome and measurable success justify the feature?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supports the accommodation queries — Sodexo, Booking.com, or the accommodation provider?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requester always the traveller, or can someone act on their behalf?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employees submit out-of-policy options, and who approves exceptions?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employee experience, operator service level, and post-booking support?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countries, sites, languages, and currencies are required first?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price calculated — taxes, fees, currency conversion, discounts?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white-labelling Booking.com’s services acceptable?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DISCOVERY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42955" y="571500"/>
            <a:ext cx="685800" cy="685800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5" name="Image 0" descr="/Users/mohit.kanwar_1/projects/Accomodation-Booking-Solution/deck/asse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405" y="7429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price cap include taxes and mandatory fees?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cap per room, per traveller, average night, highest night, or total stay?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foreign currencies converted, and which FX source is approved?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distance, category, breakfast, cancellation, weekend, and max-stay rules mandatory?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price change after approval requires renewed consent?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policies versioned, dated, overridden, and audited?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DISCOVERY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Booking, payment, and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42955" y="571500"/>
            <a:ext cx="685800" cy="685800"/>
          </a:xfrm>
          <a:prstGeom prst="ellipse">
            <a:avLst/>
          </a:prstGeom>
          <a:solidFill>
            <a:srgbClr val="187A5A"/>
          </a:solidFill>
          <a:ln/>
        </p:spPr>
      </p:sp>
      <p:pic>
        <p:nvPicPr>
          <p:cNvPr id="5" name="Image 0" descr="/Users/mohit.kanwar_1/projects/Accomodation-Booking-Solution/deck/assets/icons/dollar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405" y="7429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Booking.com affiliate partner and account owner?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search-look-book enabled contractually for this application?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merchant of record, and who pays — Sodexo, Tetrapak, operator, employee, or hotel?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invoices, refunds, chargebacks, reconciliation, no-shows, and disputes?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an operator do when a booking call times out?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employees cancel, or must all servicing go through an operator?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DISCOVERY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Platform, data, and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42955" y="571500"/>
            <a:ext cx="685800" cy="6858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405" y="7429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trusted claims does the existing B2C authentication provide?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owns employee role, cost centre, client, and manager?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operator/admin host applications and platform services can be reused?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 and traveller data may be stored, for how long, and in which region?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volumes, peak searches, booking conversion, and service levels apply?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notification, map, audit, observability, and secret services are standard?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DISCOVERY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that block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202A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766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14731" y="1737360"/>
            <a:ext cx="30540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94415" cy="777240"/>
          </a:xfrm>
          <a:prstGeom prst="rect">
            <a:avLst/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74917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commercial / API eligibility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47373" y="247345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4DD"/>
          </a:solidFill>
          <a:ln/>
        </p:spPr>
      </p:sp>
      <p:sp>
        <p:nvSpPr>
          <p:cNvPr id="10" name="Text 8"/>
          <p:cNvSpPr/>
          <p:nvPr/>
        </p:nvSpPr>
        <p:spPr>
          <a:xfrm>
            <a:off x="9247373" y="24734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74917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merchant-of-record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47373" y="325069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4DD"/>
          </a:solidFill>
          <a:ln/>
        </p:spPr>
      </p:sp>
      <p:sp>
        <p:nvSpPr>
          <p:cNvPr id="14" name="Text 12"/>
          <p:cNvSpPr/>
          <p:nvPr/>
        </p:nvSpPr>
        <p:spPr>
          <a:xfrm>
            <a:off x="9247373" y="32506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94415" cy="777240"/>
          </a:xfrm>
          <a:prstGeom prst="rect">
            <a:avLst/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74917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policy calculation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47373" y="402793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4DD"/>
          </a:solidFill>
          <a:ln/>
        </p:spPr>
      </p:sp>
      <p:sp>
        <p:nvSpPr>
          <p:cNvPr id="18" name="Text 16"/>
          <p:cNvSpPr/>
          <p:nvPr/>
        </p:nvSpPr>
        <p:spPr>
          <a:xfrm>
            <a:off x="9247373" y="40279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17720"/>
            <a:ext cx="74917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employee-role source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47373" y="480517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4DD"/>
          </a:solidFill>
          <a:ln/>
        </p:spPr>
      </p:sp>
      <p:sp>
        <p:nvSpPr>
          <p:cNvPr id="22" name="Text 20"/>
          <p:cNvSpPr/>
          <p:nvPr/>
        </p:nvSpPr>
        <p:spPr>
          <a:xfrm>
            <a:off x="9247373" y="48051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4415" cy="777240"/>
          </a:xfrm>
          <a:prstGeom prst="rect">
            <a:avLst/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94960"/>
            <a:ext cx="74917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and support ownership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47373" y="55824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4DD"/>
          </a:solidFill>
          <a:ln/>
        </p:spPr>
      </p:sp>
      <p:sp>
        <p:nvSpPr>
          <p:cNvPr id="26" name="Text 24"/>
          <p:cNvSpPr/>
          <p:nvPr/>
        </p:nvSpPr>
        <p:spPr>
          <a:xfrm>
            <a:off x="9247373" y="55824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Data Model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INITIAL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B2C-side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discovery-stage model for the platform — it does not prescribe a database technology or duplicate authoritative employee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2171700"/>
            <a:ext cx="502920" cy="50292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7" name="Image 0" descr="/Users/mohit.kanwar_1/projects/Accomodation-Booking-Solution/deck/assets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2974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762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identity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88036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B37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88036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47472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B37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47472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Travel Profile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06908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B379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06908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Level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66344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B379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66344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Site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525780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B379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25780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Policy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24448" y="196596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5F6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575908" y="2171700"/>
            <a:ext cx="502920" cy="5029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1" name="Image 1" descr="/Users/mohit.kanwar_1/projects/Accomodation-Booking-Solution/deck/assets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2297430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93128" y="21762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booking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690208" y="288036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2A7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90208" y="288036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Request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690208" y="347472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2A7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90208" y="347472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690208" y="406908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2A7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90208" y="406908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Booking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690208" y="466344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2A7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690208" y="466344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690208" y="5257800"/>
            <a:ext cx="45870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2A7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690208" y="5257800"/>
            <a:ext cx="458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Event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INITIAL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model catalogue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domain models across six bounded contexts — see the Domain Models page for full detail.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293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B379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Organisation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CorporateClient   ·   CorporateLocations   ·   CorporateUserRoles   ·   CorporateApprovalPolicy   ·   CorporatePriceRange   ·   ApproverAssignment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3458" y="178308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18050" y="19293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02A78"/>
          </a:solidFill>
          <a:ln/>
        </p:spPr>
      </p:sp>
      <p:sp>
        <p:nvSpPr>
          <p:cNvPr id="11" name="Text 9"/>
          <p:cNvSpPr/>
          <p:nvPr/>
        </p:nvSpPr>
        <p:spPr>
          <a:xfrm>
            <a:off x="4810658" y="187452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Traveller, Request &amp; Approval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18050" y="228600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TravellerDetails   ·   AccommodationRequest   ·   OfferSnapshot   ·   PolicySnapshot   ·   ClarificationThread   ·   ApprovalDecision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58277" y="178308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2869" y="19293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87A5A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477" y="187452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Supplier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2869" y="228600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SupplierBooking   ·   BookingChangeRequest   ·   IdempotencyRecord   ·   SupplierCorporation   ·   SupplierIntegrationConfig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0782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9A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2336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" y="443484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  ·   BillValidation   ·   PaymentInstruction   ·   ReconciliationException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18050" y="40782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02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810658" y="402336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Administration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18050" y="443484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PlatformAccessGrant   ·   SupportCase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58277" y="39319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5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2869" y="40782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F6685"/>
          </a:solidFill>
          <a:ln/>
        </p:spPr>
      </p:sp>
      <p:sp>
        <p:nvSpPr>
          <p:cNvPr id="27" name="Text 25"/>
          <p:cNvSpPr/>
          <p:nvPr/>
        </p:nvSpPr>
        <p:spPr>
          <a:xfrm>
            <a:off x="8615477" y="4023360"/>
            <a:ext cx="2890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Evidence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22869" y="4434840"/>
            <a:ext cx="3155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AuditEvent   ·   OutboxEvent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refresh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API Flow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HIGH-LEVEL API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Search, request, and 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calls Booking.com directly — every supplier call is server-side, through a controlled adapter.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4298" cy="393192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1932889" y="2171700"/>
            <a:ext cx="685800" cy="6858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7" name="Image 0" descr="/Users/mohit.kanwar_1/projects/Accomodation-Booking-Solution/deck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39" y="23431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718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Load and search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client and role context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Booking.com through the adapter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policy for each proposal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proposals with price and explanation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30370" y="3794760"/>
            <a:ext cx="310896" cy="274320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1" name="Shape 8"/>
          <p:cNvSpPr/>
          <p:nvPr/>
        </p:nvSpPr>
        <p:spPr>
          <a:xfrm>
            <a:off x="4368698" y="1965960"/>
            <a:ext cx="3454298" cy="393192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5752948" y="2171700"/>
            <a:ext cx="685800" cy="6858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13" name="Image 1" descr="/Users/mohit.kanwar_1/projects/Accomodation-Booking-Solution/deck/assets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98" y="23431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1578" y="29718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Request and decision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3018" y="342900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offer and policy; snapshot both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operator via the outbox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approves, rejects, or clarifies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decision and audit event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50429" y="3794760"/>
            <a:ext cx="310896" cy="274320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8757" y="1965960"/>
            <a:ext cx="3454298" cy="3931920"/>
          </a:xfrm>
          <a:prstGeom prst="roundRect">
            <a:avLst>
              <a:gd name="adj" fmla="val 2647"/>
            </a:avLst>
          </a:prstGeom>
          <a:solidFill>
            <a:srgbClr val="F5F6FC"/>
          </a:solidFill>
          <a:ln/>
        </p:spPr>
      </p:sp>
      <p:sp>
        <p:nvSpPr>
          <p:cNvPr id="18" name="Shape 14"/>
          <p:cNvSpPr/>
          <p:nvPr/>
        </p:nvSpPr>
        <p:spPr>
          <a:xfrm>
            <a:off x="9573006" y="2171700"/>
            <a:ext cx="685800" cy="685800"/>
          </a:xfrm>
          <a:prstGeom prst="ellipse">
            <a:avLst/>
          </a:prstGeom>
          <a:solidFill>
            <a:srgbClr val="187A5A"/>
          </a:solidFill>
          <a:ln/>
        </p:spPr>
      </p:sp>
      <p:pic>
        <p:nvPicPr>
          <p:cNvPr id="19" name="Image 2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456" y="234315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71637" y="29718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Create the reservation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63077" y="342900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availability and final price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renewed approval if changed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order with a preview token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confirmation and notify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HIGH-LEVEL API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Booking.com integration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9284" cy="3566160"/>
          </a:xfrm>
          <a:prstGeom prst="roundRect">
            <a:avLst>
              <a:gd name="adj" fmla="val 2927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6" name="Image 0" descr="/Users/mohit.kanwar_1/projects/Accomodation-Booking-Solution/deck/asse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259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93392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only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19506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and affiliate ID live in secret management — never in the browser.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3684" y="1828800"/>
            <a:ext cx="2499284" cy="3566160"/>
          </a:xfrm>
          <a:prstGeom prst="roundRect">
            <a:avLst>
              <a:gd name="adj" fmla="val 2927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0844" y="201168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11" name="Image 1" descr="/Users/mohit.kanwar_1/projects/Accomodation-Booking-Solution/deck/assets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144" y="21259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9484" y="1993392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volatile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88004" y="2514600"/>
            <a:ext cx="19506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price, and cancellation terms are rechecked before booking.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8728" y="1828800"/>
            <a:ext cx="2499284" cy="3566160"/>
          </a:xfrm>
          <a:prstGeom prst="roundRect">
            <a:avLst>
              <a:gd name="adj" fmla="val 2927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5888" y="2011680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6" name="Image 2" descr="/Users/mohit.kanwar_1/projects/Accomodation-Booking-Solution/deck/asset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1259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4528" y="1993392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booking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53048" y="2514600"/>
            <a:ext cx="19506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retried or timed-out command can never create a duplicate reservation.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3771" y="1828800"/>
            <a:ext cx="2499284" cy="3566160"/>
          </a:xfrm>
          <a:prstGeom prst="roundRect">
            <a:avLst>
              <a:gd name="adj" fmla="val 2927"/>
            </a:avLst>
          </a:prstGeom>
          <a:solidFill>
            <a:srgbClr val="F5F6FC"/>
          </a:solidFill>
          <a:ln/>
          <a:effectLst>
            <a:outerShdw sx="100000" sy="100000" kx="0" ky="0" algn="bl" rotWithShape="0" blurRad="76200" dist="25400" dir="5400000">
              <a:srgbClr val="9AA5D9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0931" y="2011680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1" name="Image 3" descr="/Users/mohit.kanwar_1/projects/Accomodation-Booking-Solution/deck/asset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231" y="21259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29571" y="1993392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18091" y="2514600"/>
            <a:ext cx="19506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schemas and versions stay isolated from the domain model.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FFF4DD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5778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Booking.com’s preview order token is time-limited — preview and create belong in the controlled booking step, not at initial selection.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Principles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ARCHITECTURE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principles, independent of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00784"/>
            <a:ext cx="384048" cy="384048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5" name="Image 0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96796"/>
            <a:ext cx="192024" cy="192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81912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supplier integration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credentials, prevents rule bypass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42736" y="1700784"/>
            <a:ext cx="384048" cy="384048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8" name="Image 1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748" y="1796796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7368" y="1581912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identity and tenant context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cannot depend on browser data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2648" y="2596896"/>
            <a:ext cx="384048" cy="384048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1" name="Image 2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692908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478024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versioned domain logic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auditable, time-bound caps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42736" y="2596896"/>
            <a:ext cx="384048" cy="384048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14" name="Image 3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748" y="2692908"/>
            <a:ext cx="192024" cy="1920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7368" y="2478024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before reservation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intent, approval, attempt, confirmation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2648" y="3493008"/>
            <a:ext cx="384048" cy="384048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7" name="Image 4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589020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374136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anti-corruption layer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domain from Booking.com’s schemas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342736" y="3493008"/>
            <a:ext cx="384048" cy="384048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0" name="Image 5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748" y="3589020"/>
            <a:ext cx="192024" cy="19202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27368" y="3374136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volatile data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availability, and terms may change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12648" y="4389120"/>
            <a:ext cx="384048" cy="384048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3" name="Image 6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4485132"/>
            <a:ext cx="192024" cy="1920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97280" y="4270248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Idempotent, recoverable booking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never silently duplicate reservations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342736" y="4389120"/>
            <a:ext cx="384048" cy="384048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26" name="Image 7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748" y="4485132"/>
            <a:ext cx="192024" cy="19202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27368" y="4270248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by design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change needs evidence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12648" y="5285232"/>
            <a:ext cx="384048" cy="384048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9" name="Image 8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5381244"/>
            <a:ext cx="192024" cy="19202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97280" y="5166360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least privilege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and control sensitive data access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6342736" y="5285232"/>
            <a:ext cx="384048" cy="384048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32" name="Image 9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748" y="5381244"/>
            <a:ext cx="192024" cy="19202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827368" y="5166360"/>
            <a:ext cx="481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operations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ageing, failure, reconciliation visibility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ARCHITECTURE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 &amp; targets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2B379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38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operator uptime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90824" y="155448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202A78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627632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82264" y="2148840"/>
            <a:ext cx="238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capability uptime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2B3797"/>
          </a:solidFill>
          <a:ln/>
        </p:spPr>
      </p:sp>
      <p:sp>
        <p:nvSpPr>
          <p:cNvPr id="11" name="Text 9"/>
          <p:cNvSpPr/>
          <p:nvPr/>
        </p:nvSpPr>
        <p:spPr>
          <a:xfrm>
            <a:off x="6233008" y="1627632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&lt;200ms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24448" y="2148840"/>
            <a:ext cx="238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evaluation, p95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75191" y="155448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202A78"/>
          </a:solidFill>
          <a:ln/>
        </p:spPr>
      </p:sp>
      <p:sp>
        <p:nvSpPr>
          <p:cNvPr id="14" name="Text 12"/>
          <p:cNvSpPr/>
          <p:nvPr/>
        </p:nvSpPr>
        <p:spPr>
          <a:xfrm>
            <a:off x="9075191" y="1627632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66631" y="2148840"/>
            <a:ext cx="238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submission, p95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9325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8" name="Image 0" descr="/Users/mohit.kanwar_1/projects/Accomodation-Booking-Solution/deck/asset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25" y="3241548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03504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435809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036494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2" name="Image 1" descr="/Users/mohit.kanwar_1/projects/Accomodation-Booking-Solution/deck/assets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794" y="3241548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90673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322978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5" name="Shape 21"/>
          <p:cNvSpPr/>
          <p:nvPr/>
        </p:nvSpPr>
        <p:spPr>
          <a:xfrm>
            <a:off x="4923663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6" name="Image 2" descr="/Users/mohit.kanwar_1/projects/Accomodation-Booking-Solution/deck/assets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963" y="3241548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377842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10148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9" name="Shape 24"/>
          <p:cNvSpPr/>
          <p:nvPr/>
        </p:nvSpPr>
        <p:spPr>
          <a:xfrm>
            <a:off x="6810832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30" name="Image 3" descr="/Users/mohit.kanwar_1/projects/Accomodation-Booking-Solution/deck/assets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132" y="324154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65012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097317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33" name="Shape 27"/>
          <p:cNvSpPr/>
          <p:nvPr/>
        </p:nvSpPr>
        <p:spPr>
          <a:xfrm>
            <a:off x="8698001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34" name="Image 4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301" y="3241548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152181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9984486" y="297180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37" name="Shape 30"/>
          <p:cNvSpPr/>
          <p:nvPr/>
        </p:nvSpPr>
        <p:spPr>
          <a:xfrm>
            <a:off x="10585171" y="3127248"/>
            <a:ext cx="457200" cy="45720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38" name="Image 5" descr="/Users/mohit.kanwar_1/projects/Accomodation-Booking-Solution/deck/assets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9471" y="3241548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39350" y="368503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48640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41" name="Shape 33"/>
          <p:cNvSpPr/>
          <p:nvPr/>
        </p:nvSpPr>
        <p:spPr>
          <a:xfrm>
            <a:off x="1149325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42" name="Image 6" descr="/Users/mohit.kanwar_1/projects/Accomodation-Booking-Solution/deck/assets/icons/l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625" y="4658868"/>
            <a:ext cx="228600" cy="2286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03504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2435809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45" name="Shape 36"/>
          <p:cNvSpPr/>
          <p:nvPr/>
        </p:nvSpPr>
        <p:spPr>
          <a:xfrm>
            <a:off x="3036494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46" name="Image 7" descr="/Users/mohit.kanwar_1/projects/Accomodation-Booking-Solution/deck/assets/icons/dollarSig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794" y="4658868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2490673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322978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49" name="Shape 39"/>
          <p:cNvSpPr/>
          <p:nvPr/>
        </p:nvSpPr>
        <p:spPr>
          <a:xfrm>
            <a:off x="4923663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0" name="Image 8" descr="/Users/mohit.kanwar_1/projects/Accomodation-Booking-Solution/deck/assets/icons/cl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7963" y="4658868"/>
            <a:ext cx="228600" cy="2286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377842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6210148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53" name="Shape 42"/>
          <p:cNvSpPr/>
          <p:nvPr/>
        </p:nvSpPr>
        <p:spPr>
          <a:xfrm>
            <a:off x="6810832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4" name="Image 9" descr="/Users/mohit.kanwar_1/projects/Accomodation-Booking-Solution/deck/assets/icons/za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5132" y="4658868"/>
            <a:ext cx="228600" cy="22860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265012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8097317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57" name="Shape 45"/>
          <p:cNvSpPr/>
          <p:nvPr/>
        </p:nvSpPr>
        <p:spPr>
          <a:xfrm>
            <a:off x="8698001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8" name="Image 10" descr="/Users/mohit.kanwar_1/projects/Accomodation-Booking-Solution/deck/assets/icons/hom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2301" y="4658868"/>
            <a:ext cx="228600" cy="22860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152181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60" name="Shape 47"/>
          <p:cNvSpPr/>
          <p:nvPr/>
        </p:nvSpPr>
        <p:spPr>
          <a:xfrm>
            <a:off x="9984486" y="4389120"/>
            <a:ext cx="1658569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61" name="Shape 48"/>
          <p:cNvSpPr/>
          <p:nvPr/>
        </p:nvSpPr>
        <p:spPr>
          <a:xfrm>
            <a:off x="10585171" y="4544568"/>
            <a:ext cx="457200" cy="45720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62" name="Image 11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9471" y="4658868"/>
            <a:ext cx="228600" cy="22860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10039350" y="5102352"/>
            <a:ext cx="15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64" name="Text 5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Workshops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NEXT STEPS AND WORKSHOPS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discovery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379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and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product, operations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8218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2810" y="17465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A78"/>
          </a:solidFill>
          <a:ln/>
        </p:spPr>
      </p:sp>
      <p:sp>
        <p:nvSpPr>
          <p:cNvPr id="11" name="Text 9"/>
          <p:cNvSpPr/>
          <p:nvPr/>
        </p:nvSpPr>
        <p:spPr>
          <a:xfrm>
            <a:off x="4502810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2810" y="21488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operator journey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2810" y="25877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UX, operators, support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27797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2389" y="17465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3797"/>
          </a:solidFill>
          <a:ln/>
        </p:spPr>
      </p:sp>
      <p:sp>
        <p:nvSpPr>
          <p:cNvPr id="16" name="Text 14"/>
          <p:cNvSpPr/>
          <p:nvPr/>
        </p:nvSpPr>
        <p:spPr>
          <a:xfrm>
            <a:off x="8292389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2389" y="21488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entitlement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92389" y="25877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policy owners, finance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3467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A7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37490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operating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1879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procurement, legal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2004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2810" y="33467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3797"/>
          </a:solidFill>
          <a:ln/>
        </p:spPr>
      </p:sp>
      <p:sp>
        <p:nvSpPr>
          <p:cNvPr id="26" name="Text 24"/>
          <p:cNvSpPr/>
          <p:nvPr/>
        </p:nvSpPr>
        <p:spPr>
          <a:xfrm>
            <a:off x="450281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02810" y="37490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capability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2810" y="41879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architects, engineers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27797" y="32004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2389" y="33467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A78"/>
          </a:solidFill>
          <a:ln/>
        </p:spPr>
      </p:sp>
      <p:sp>
        <p:nvSpPr>
          <p:cNvPr id="31" name="Text 29"/>
          <p:cNvSpPr/>
          <p:nvPr/>
        </p:nvSpPr>
        <p:spPr>
          <a:xfrm>
            <a:off x="8292389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92389" y="37490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data, security &amp; privacy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92389" y="41879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IAM, security, privacy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9469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3797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" y="53492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spike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" y="57881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and integration engineers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38218" y="48006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2810" y="49469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A78"/>
          </a:solidFill>
          <a:ln/>
        </p:spPr>
      </p:sp>
      <p:sp>
        <p:nvSpPr>
          <p:cNvPr id="41" name="Text 39"/>
          <p:cNvSpPr/>
          <p:nvPr/>
        </p:nvSpPr>
        <p:spPr>
          <a:xfrm>
            <a:off x="4502810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02810" y="53492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&amp; operational readiness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02810" y="57881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SRE, support, security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27797" y="48006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8292389" y="49469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3797"/>
          </a:solidFill>
          <a:ln/>
        </p:spPr>
      </p:sp>
      <p:sp>
        <p:nvSpPr>
          <p:cNvPr id="46" name="Text 44"/>
          <p:cNvSpPr/>
          <p:nvPr/>
        </p:nvSpPr>
        <p:spPr>
          <a:xfrm>
            <a:off x="8292389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92389" y="5349240"/>
            <a:ext cx="318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planning and estimation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92389" y="578815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architecture, delivery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NEXT STEPS AND WORKSHOPS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readiness gates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delivery planning only when: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1947672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6" name="Image 0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04368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202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affiliate eligibility and required API capabilities are confirmed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" y="2551176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9" name="Image 1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647188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2374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and merchant-of-record model is approved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5216" y="3154680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12" name="Image 2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250692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272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role and client context have an authoritative source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85216" y="3758184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15" name="Image 3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3854196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730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calculations and exception ownership are unambiguous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85216" y="4361688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18" name="Image 4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4457700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33425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operator/support model and reconciliation ownership are accepted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85216" y="4965192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21" name="Image 5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5061204"/>
            <a:ext cx="192024" cy="1920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9377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security, data-retention, and commercial constraints are recorded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85216" y="5568696"/>
            <a:ext cx="384048" cy="384048"/>
          </a:xfrm>
          <a:prstGeom prst="ellipse">
            <a:avLst/>
          </a:prstGeom>
          <a:solidFill>
            <a:srgbClr val="9A5A00"/>
          </a:solidFill>
          <a:ln/>
        </p:spPr>
      </p:sp>
      <p:pic>
        <p:nvPicPr>
          <p:cNvPr id="24" name="Image 6" descr="/Users/mohit.kanwar_1/projects/Accomodation-Booking-Solution/deck/assets/icons/alertTriang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" y="5664708"/>
            <a:ext cx="192024" cy="19202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7280" y="554126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spike proves the critical search and booking path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NEXT STEPS AND WORKSHOPS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delivery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5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5269" y="2560320"/>
            <a:ext cx="640080" cy="64008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7" name="Image 0" descr="/Users/mohit.kanwar_1/projects/Accomodation-Booking-Solution/deck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289" y="27203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request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demand, policy, operator queue, and manual completion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15130" y="3429000"/>
            <a:ext cx="310896" cy="274320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1" name="Shape 8"/>
          <p:cNvSpPr/>
          <p:nvPr/>
        </p:nvSpPr>
        <p:spPr>
          <a:xfrm>
            <a:off x="4399178" y="19202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5F6FC"/>
          </a:solidFill>
          <a:ln/>
        </p:spPr>
      </p:sp>
      <p:sp>
        <p:nvSpPr>
          <p:cNvPr id="12" name="Text 9"/>
          <p:cNvSpPr/>
          <p:nvPr/>
        </p:nvSpPr>
        <p:spPr>
          <a:xfrm>
            <a:off x="4627778" y="21031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75808" y="2560320"/>
            <a:ext cx="640080" cy="64008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4" name="Image 1" descr="/Users/mohit.kanwar_1/projects/Accomodation-Booking-Solution/deck/assets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828" y="27203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7778" y="33375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operator booking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19218" y="388620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preview/create, confirmation, recovery, and reconciliation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865669" y="3429000"/>
            <a:ext cx="310896" cy="274320"/>
          </a:xfrm>
          <a:prstGeom prst="rightArrow">
            <a:avLst/>
          </a:prstGeom>
          <a:solidFill>
            <a:srgbClr val="C9CEE8"/>
          </a:solidFill>
          <a:ln/>
        </p:spPr>
      </p:sp>
      <p:sp>
        <p:nvSpPr>
          <p:cNvPr id="18" name="Shape 14"/>
          <p:cNvSpPr/>
          <p:nvPr/>
        </p:nvSpPr>
        <p:spPr>
          <a:xfrm>
            <a:off x="8249717" y="19202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5F6FC"/>
          </a:solidFill>
          <a:ln/>
        </p:spPr>
      </p:sp>
      <p:sp>
        <p:nvSpPr>
          <p:cNvPr id="19" name="Text 15"/>
          <p:cNvSpPr/>
          <p:nvPr/>
        </p:nvSpPr>
        <p:spPr>
          <a:xfrm>
            <a:off x="8478317" y="21031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0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626346" y="2560320"/>
            <a:ext cx="640080" cy="64008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1" name="Image 2" descr="/Users/mohit.kanwar_1/projects/Accomodation-Booking-Solution/deck/assets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66" y="27203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78317" y="33375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Post-booking and optimisation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569757" y="388620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supported servicing, reporting, automation, future suppliers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229100" y="2519172"/>
            <a:ext cx="960120" cy="9601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messag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759202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and Decision Recap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924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3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Q&amp;A AND DECISION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92224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6" name="Image 0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92808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business, product, and technical decision owners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80015" y="16916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505456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1" name="Image 1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060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404872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Booking.com commercial/API validation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80015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16" name="Image 2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19272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118104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policy and payment workshops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180015" y="31181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31920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1" name="Image 3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32504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831336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employee-role and destination data sources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180015" y="38313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5F6FC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4645152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26" name="Image 4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745736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544568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sandbox technical spike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180015" y="45445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2578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9CE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49808" y="5358384"/>
            <a:ext cx="365760" cy="365760"/>
          </a:xfrm>
          <a:prstGeom prst="ellipse">
            <a:avLst/>
          </a:prstGeom>
          <a:solidFill>
            <a:srgbClr val="2B3797"/>
          </a:solidFill>
          <a:ln/>
        </p:spPr>
      </p:sp>
      <p:pic>
        <p:nvPicPr>
          <p:cNvPr id="31" name="Image 5" descr="/Users/mohit.kanwar_1/projects/Accomodation-Booking-Solution/deck/assets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458968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34440" y="5257800"/>
            <a:ext cx="8991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MVP after readiness-gate playback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0180015" y="5257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TBD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3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3657600"/>
            <a:ext cx="5029200" cy="5029200"/>
          </a:xfrm>
          <a:prstGeom prst="ellipse">
            <a:avLst/>
          </a:prstGeom>
          <a:solidFill>
            <a:srgbClr val="202A78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691640"/>
            <a:ext cx="1188720" cy="1188720"/>
          </a:xfrm>
          <a:prstGeom prst="ellipse">
            <a:avLst/>
          </a:prstGeom>
          <a:solidFill>
            <a:srgbClr val="202A78"/>
          </a:solidFill>
          <a:ln/>
        </p:spPr>
      </p:sp>
      <p:pic>
        <p:nvPicPr>
          <p:cNvPr id="5" name="Image 0" descr="/Users/mohit.kanwar_1/projects/Accomodation-Booking-Solution/deck/assets/icons/messag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668" y="19888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D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agreed decisions, unresolved blockers, owners, and dates.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Booking Solution · Initial 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Sodexo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Accommodation Booking Solution — Initial Discovery</dc:title>
  <dc:subject>PptxGenJS Presentation</dc:subject>
  <dc:creator>Mohit Kanwar</dc:creator>
  <cp:lastModifiedBy>Mohit Kanwar</cp:lastModifiedBy>
  <cp:revision>1</cp:revision>
  <dcterms:created xsi:type="dcterms:W3CDTF">2026-07-26T18:18:33Z</dcterms:created>
  <dcterms:modified xsi:type="dcterms:W3CDTF">2026-07-26T18:18:33Z</dcterms:modified>
</cp:coreProperties>
</file>