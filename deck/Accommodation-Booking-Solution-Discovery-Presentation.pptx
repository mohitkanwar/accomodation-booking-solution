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image" Target="../media/image-23-1.png"/><Relationship Id="rId5" Type="http://schemas.openxmlformats.org/officeDocument/2006/relationships/image" Target="../media/image-23-1.png"/><Relationship Id="rId6" Type="http://schemas.openxmlformats.org/officeDocument/2006/relationships/image" Target="../media/image-23-1.png"/><Relationship Id="rId7" Type="http://schemas.openxmlformats.org/officeDocument/2006/relationships/image" Target="../media/image-23-1.png"/><Relationship Id="rId8" Type="http://schemas.openxmlformats.org/officeDocument/2006/relationships/image" Target="../media/image-23-1.png"/><Relationship Id="rId9" Type="http://schemas.openxmlformats.org/officeDocument/2006/relationships/image" Target="../media/image-23-1.png"/><Relationship Id="rId10" Type="http://schemas.openxmlformats.org/officeDocument/2006/relationships/image" Target="../media/image-23-1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1.png"/><Relationship Id="rId3" Type="http://schemas.openxmlformats.org/officeDocument/2006/relationships/image" Target="../media/image-27-1.png"/><Relationship Id="rId4" Type="http://schemas.openxmlformats.org/officeDocument/2006/relationships/image" Target="../media/image-27-1.png"/><Relationship Id="rId5" Type="http://schemas.openxmlformats.org/officeDocument/2006/relationships/image" Target="../media/image-27-1.png"/><Relationship Id="rId6" Type="http://schemas.openxmlformats.org/officeDocument/2006/relationships/image" Target="../media/image-27-1.png"/><Relationship Id="rId7" Type="http://schemas.openxmlformats.org/officeDocument/2006/relationships/image" Target="../media/image-27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1.png"/><Relationship Id="rId3" Type="http://schemas.openxmlformats.org/officeDocument/2006/relationships/image" Target="../media/image-30-1.png"/><Relationship Id="rId4" Type="http://schemas.openxmlformats.org/officeDocument/2006/relationships/image" Target="../media/image-30-1.png"/><Relationship Id="rId5" Type="http://schemas.openxmlformats.org/officeDocument/2006/relationships/image" Target="../media/image-30-1.png"/><Relationship Id="rId6" Type="http://schemas.openxmlformats.org/officeDocument/2006/relationships/image" Target="../media/image-30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3" name="Shape 1"/>
          <p:cNvSpPr/>
          <p:nvPr/>
        </p:nvSpPr>
        <p:spPr>
          <a:xfrm>
            <a:off x="7985455" y="-2011680"/>
            <a:ext cx="5943600" cy="59436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4" name="Shape 2"/>
          <p:cNvSpPr/>
          <p:nvPr/>
        </p:nvSpPr>
        <p:spPr>
          <a:xfrm>
            <a:off x="-2377440" y="4480560"/>
            <a:ext cx="4572000" cy="45720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486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39348" y="888797"/>
            <a:ext cx="385511" cy="124724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7" name="Shape 5"/>
          <p:cNvSpPr/>
          <p:nvPr/>
        </p:nvSpPr>
        <p:spPr>
          <a:xfrm>
            <a:off x="639348" y="849112"/>
            <a:ext cx="385511" cy="51024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8" name="Shape 6"/>
          <p:cNvSpPr/>
          <p:nvPr/>
        </p:nvSpPr>
        <p:spPr>
          <a:xfrm>
            <a:off x="662026" y="707380"/>
            <a:ext cx="124724" cy="141732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9" name="Shape 7"/>
          <p:cNvSpPr/>
          <p:nvPr/>
        </p:nvSpPr>
        <p:spPr>
          <a:xfrm>
            <a:off x="832104" y="639348"/>
            <a:ext cx="124724" cy="209763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10" name="Text 8"/>
          <p:cNvSpPr/>
          <p:nvPr/>
        </p:nvSpPr>
        <p:spPr>
          <a:xfrm>
            <a:off x="1298448" y="5486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Accommodation Booking Solution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48640" y="38862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Discovery Presentation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ED1C24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60-minute session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business owners, product owners, operations, and technology teams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ARE HERE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 of this session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shared understanding of Tetrapak’s request, expose the decisions that determine scope and feasibility, and agree the work required to reach delivery readiness.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FFF4D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3172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final solution design or delivery commitment — the data model, flows, and principles are initial hypotheses to support discussion.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OUTCOMES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2464994" cy="2651760"/>
          </a:xfrm>
          <a:prstGeom prst="roundRect">
            <a:avLst>
              <a:gd name="adj" fmla="val 2968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0" name="Image 0" descr="/Users/mohit.kanwar_1/projects/Accomodation-Booking-Solution/deck/assets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771900"/>
            <a:ext cx="228600" cy="228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3639312"/>
            <a:ext cx="15963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on scope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4160520"/>
            <a:ext cx="191635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the feature solves for Tetrapak employees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425114" y="3474720"/>
            <a:ext cx="2464994" cy="2651760"/>
          </a:xfrm>
          <a:prstGeom prst="roundRect">
            <a:avLst>
              <a:gd name="adj" fmla="val 2968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62274" y="3657600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15" name="Image 1" descr="/Users/mohit.kanwar_1/projects/Accomodation-Booking-Solution/deck/assets/icons/help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574" y="3771900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10914" y="3639312"/>
            <a:ext cx="15963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list of unknowns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99434" y="4160520"/>
            <a:ext cx="191635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Business, product, commercial, and technical questions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301588" y="3474720"/>
            <a:ext cx="2464994" cy="2651760"/>
          </a:xfrm>
          <a:prstGeom prst="roundRect">
            <a:avLst>
              <a:gd name="adj" fmla="val 2968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38748" y="365760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0" name="Image 2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8" y="3771900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987388" y="3639312"/>
            <a:ext cx="15963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boundaries tested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575908" y="4160520"/>
            <a:ext cx="191635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or challenge of the initial domain and integrations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178061" y="3474720"/>
            <a:ext cx="2464994" cy="2651760"/>
          </a:xfrm>
          <a:prstGeom prst="roundRect">
            <a:avLst>
              <a:gd name="adj" fmla="val 2968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315221" y="3657600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25" name="Image 3" descr="/Users/mohit.kanwar_1/projects/Accomodation-Booking-Solution/deck/assets/icons/fla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9521" y="3771900"/>
            <a:ext cx="228600" cy="2286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863861" y="3639312"/>
            <a:ext cx="15963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owners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9452381" y="4160520"/>
            <a:ext cx="191635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validation workshops and blocking decisions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FOR THE NEXT HOUR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8408" y="1801368"/>
            <a:ext cx="0" cy="3621024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00200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0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57276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understanding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71455" y="158191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9" name="Text 7"/>
          <p:cNvSpPr/>
          <p:nvPr/>
        </p:nvSpPr>
        <p:spPr>
          <a:xfrm>
            <a:off x="10271455" y="15819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203704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203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762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questions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271455" y="2185416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14" name="Text 12"/>
          <p:cNvSpPr/>
          <p:nvPr/>
        </p:nvSpPr>
        <p:spPr>
          <a:xfrm>
            <a:off x="10271455" y="218541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2807208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77977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data model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271455" y="27889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19" name="Text 17"/>
          <p:cNvSpPr/>
          <p:nvPr/>
        </p:nvSpPr>
        <p:spPr>
          <a:xfrm>
            <a:off x="10271455" y="27889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3410712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10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3383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API flow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271455" y="339242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10271455" y="339242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7240" y="4014216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98678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principles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271455" y="3995928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29" name="Text 27"/>
          <p:cNvSpPr/>
          <p:nvPr/>
        </p:nvSpPr>
        <p:spPr>
          <a:xfrm>
            <a:off x="10271455" y="39959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77240" y="4617720"/>
            <a:ext cx="402336" cy="402336"/>
          </a:xfrm>
          <a:prstGeom prst="ellipse">
            <a:avLst/>
          </a:prstGeom>
          <a:solidFill>
            <a:srgbClr val="2B3797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17320" y="4590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and workshops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271455" y="459943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34" name="Text 32"/>
          <p:cNvSpPr/>
          <p:nvPr/>
        </p:nvSpPr>
        <p:spPr>
          <a:xfrm>
            <a:off x="10271455" y="459943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77240" y="5221224"/>
            <a:ext cx="402336" cy="402336"/>
          </a:xfrm>
          <a:prstGeom prst="ellipse">
            <a:avLst/>
          </a:prstGeom>
          <a:solidFill>
            <a:srgbClr val="ED1C24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5221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417320" y="519379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and decision recap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0271455" y="5202936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10271455" y="520293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417320" y="58704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60 minutes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" name="Image 0" descr="/Users/mohit.kanwar_1/projects/Accomodation-Booking-Solution/deck/assets/icons/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and Understanding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heard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Tetrapak wants eligible employees travelling between offices to request accommodation inside the existing Sodexo B2C application.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185416"/>
            <a:ext cx="512064" cy="512064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3134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214884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experience is a React micro frontend, composed as a B2C Lego.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97016" y="2185416"/>
            <a:ext cx="512064" cy="512064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9" name="Image 1" descr="/Users/mohit.kanwar_1/projects/Accomodation-Booking-Solution/deck/assets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032" y="231343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18808" y="214884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B2C authentication identifies the employee and client.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3419856"/>
            <a:ext cx="512064" cy="512064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2" name="Image 2" descr="/Users/mohit.kanwar_1/projects/Accomodation-Booking-Solution/deck/assets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547872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338328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accommodation comes from Booking.com.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297016" y="3419856"/>
            <a:ext cx="512064" cy="512064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15" name="Image 3" descr="/Users/mohit.kanwar_1/projects/Accomodation-Booking-Solution/deck/assets/icons/mapP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5032" y="354787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18808" y="338328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and price limits vary by client, employee level, and destination.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66928" y="4654296"/>
            <a:ext cx="512064" cy="512064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8" name="Image 4" descr="/Users/mohit.kanwar_1/projects/Accomodation-Booking-Solution/deck/assets/icons/user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4782312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88720" y="461772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Tetrapak operator reviews requests and creates the real booking.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6297016" y="4654296"/>
            <a:ext cx="512064" cy="512064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21" name="Image 5" descr="/Users/mohit.kanwar_1/projects/Accomodation-Booking-Solution/deck/assets/icons/setting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5032" y="4782312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18808" y="4617720"/>
            <a:ext cx="4724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administration capability manages destinations, role levels, policies, and technical configuration.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accommodation ecosystem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client corporations and multiple provider corporations, coordinated by Sodexo. Every corporation keeps its own users and organisational boundary.</a:t>
            </a:r>
            <a:endParaRPr lang="en-US" sz="1350" dirty="0"/>
          </a:p>
        </p:txBody>
      </p:sp>
      <p:pic>
        <p:nvPicPr>
          <p:cNvPr id="5" name="Image 0" descr="/Users/mohit.kanwar_1/projects/Accomodation-Booking-Solution/deck/assets/diagrams/corporate-user-landsc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874520"/>
            <a:ext cx="7863840" cy="42125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roles across three groups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454298" cy="470916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 w="12700">
            <a:solidFill>
              <a:srgbClr val="C9C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3454298" cy="502920"/>
          </a:xfrm>
          <a:prstGeom prst="roundRect">
            <a:avLst>
              <a:gd name="adj" fmla="val 18182"/>
            </a:avLst>
          </a:prstGeom>
          <a:solidFill>
            <a:srgbClr val="2B379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64792"/>
            <a:ext cx="3454298" cy="246888"/>
          </a:xfrm>
          <a:prstGeom prst="rect">
            <a:avLst/>
          </a:prstGeom>
          <a:solidFill>
            <a:srgbClr val="2B379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08760"/>
            <a:ext cx="317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CORPORATION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9" name="Image 0" descr="/Users/mohit.kanwar_1/projects/Accomodation-Booking-Solution/deck/assets/icons/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2537460"/>
            <a:ext cx="228600" cy="228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98448" y="22860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298448" y="27614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Searches, submits requests, tracks outcomes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379476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3" name="Image 1" descr="/Users/mohit.kanwar_1/projects/Accomodation-Booking-Solution/deck/assets/icons/user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390906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36576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298448" y="41330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rejects, or seeks clarification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31520" y="516636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7" name="Image 2" descr="/Users/mohit.kanwar_1/projects/Accomodation-Booking-Solution/deck/assets/icons/sett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528066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98448" y="50292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Administrator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298448" y="55046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policy, roles, destinations, price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368698" y="1508760"/>
            <a:ext cx="3454298" cy="470916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 w="12700">
            <a:solidFill>
              <a:srgbClr val="C9CEE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368698" y="1508760"/>
            <a:ext cx="3454298" cy="502920"/>
          </a:xfrm>
          <a:prstGeom prst="roundRect">
            <a:avLst>
              <a:gd name="adj" fmla="val 18182"/>
            </a:avLst>
          </a:prstGeom>
          <a:solidFill>
            <a:srgbClr val="ED1C24"/>
          </a:solidFill>
          <a:ln/>
        </p:spPr>
      </p:sp>
      <p:sp>
        <p:nvSpPr>
          <p:cNvPr id="22" name="Shape 17"/>
          <p:cNvSpPr/>
          <p:nvPr/>
        </p:nvSpPr>
        <p:spPr>
          <a:xfrm>
            <a:off x="4368698" y="1764792"/>
            <a:ext cx="3454298" cy="246888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23" name="Text 18"/>
          <p:cNvSpPr/>
          <p:nvPr/>
        </p:nvSpPr>
        <p:spPr>
          <a:xfrm>
            <a:off x="4505858" y="1508760"/>
            <a:ext cx="317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551578" y="2423160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25" name="Image 3" descr="/Users/mohit.kanwar_1/projects/Accomodation-Booking-Solution/deck/assets/icons/briefc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5878" y="2537460"/>
            <a:ext cx="228600" cy="2286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118506" y="22860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Operator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118506" y="27614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requests, creates the reservation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51578" y="3794760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29" name="Image 4" descr="/Users/mohit.kanwar_1/projects/Accomodation-Booking-Solution/deck/assets/icons/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5878" y="3909060"/>
            <a:ext cx="228600" cy="2286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118506" y="36576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 Administrator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5118506" y="41330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tenants, integrations, reporting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8188757" y="1508760"/>
            <a:ext cx="3454298" cy="470916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 w="12700">
            <a:solidFill>
              <a:srgbClr val="C9CEE8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188757" y="1508760"/>
            <a:ext cx="3454298" cy="502920"/>
          </a:xfrm>
          <a:prstGeom prst="roundRect">
            <a:avLst>
              <a:gd name="adj" fmla="val 18182"/>
            </a:avLst>
          </a:prstGeom>
          <a:solidFill>
            <a:srgbClr val="187A5A"/>
          </a:solidFill>
          <a:ln/>
        </p:spPr>
      </p:sp>
      <p:sp>
        <p:nvSpPr>
          <p:cNvPr id="34" name="Shape 27"/>
          <p:cNvSpPr/>
          <p:nvPr/>
        </p:nvSpPr>
        <p:spPr>
          <a:xfrm>
            <a:off x="8188757" y="1764792"/>
            <a:ext cx="3454298" cy="246888"/>
          </a:xfrm>
          <a:prstGeom prst="rect">
            <a:avLst/>
          </a:prstGeom>
          <a:solidFill>
            <a:srgbClr val="187A5A"/>
          </a:solidFill>
          <a:ln/>
        </p:spPr>
      </p:sp>
      <p:sp>
        <p:nvSpPr>
          <p:cNvPr id="35" name="Text 28"/>
          <p:cNvSpPr/>
          <p:nvPr/>
        </p:nvSpPr>
        <p:spPr>
          <a:xfrm>
            <a:off x="8325917" y="1508760"/>
            <a:ext cx="3179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CORPORATION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8371637" y="2423160"/>
            <a:ext cx="457200" cy="457200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37" name="Image 5" descr="/Users/mohit.kanwar_1/projects/Accomodation-Booking-Solution/deck/assets/icons/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5937" y="2537460"/>
            <a:ext cx="228600" cy="22860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8938565" y="2286000"/>
            <a:ext cx="25398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Provider Agent</a:t>
            </a:r>
            <a:endParaRPr lang="en-US" sz="1250" dirty="0"/>
          </a:p>
        </p:txBody>
      </p:sp>
      <p:sp>
        <p:nvSpPr>
          <p:cNvPr id="39" name="Text 31"/>
          <p:cNvSpPr/>
          <p:nvPr/>
        </p:nvSpPr>
        <p:spPr>
          <a:xfrm>
            <a:off x="8938565" y="2761488"/>
            <a:ext cx="25398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Fulfils reservations, manages content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context, simplified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69164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Users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Traveller, Approver, Admin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2B3797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74320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 Users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Operator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80360" y="169164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</p:sp>
      <p:sp>
        <p:nvSpPr>
          <p:cNvPr id="9" name="Text 7"/>
          <p:cNvSpPr/>
          <p:nvPr/>
        </p:nvSpPr>
        <p:spPr>
          <a:xfrm>
            <a:off x="2990088" y="169164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 B2C App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host + Lego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80360" y="2743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2B3797"/>
          </a:solidFill>
          <a:ln/>
        </p:spPr>
      </p:sp>
      <p:sp>
        <p:nvSpPr>
          <p:cNvPr id="11" name="Text 9"/>
          <p:cNvSpPr/>
          <p:nvPr/>
        </p:nvSpPr>
        <p:spPr>
          <a:xfrm>
            <a:off x="2990088" y="274320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Application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Sodexo employee webapp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21208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ED1C24"/>
          </a:solidFill>
          <a:ln/>
        </p:spPr>
      </p:sp>
      <p:sp>
        <p:nvSpPr>
          <p:cNvPr id="13" name="Text 11"/>
          <p:cNvSpPr/>
          <p:nvPr/>
        </p:nvSpPr>
        <p:spPr>
          <a:xfrm>
            <a:off x="5349240" y="19202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Capability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policy · approval · booking · admin · audit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01000" y="13258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5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8110728" y="132588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Employee Context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client, role attributes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01000" y="25146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28" y="251460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Core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availability, price, orders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01000" y="370332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5F6FC"/>
          </a:solidFill>
          <a:ln/>
        </p:spPr>
      </p:sp>
      <p:sp>
        <p:nvSpPr>
          <p:cNvPr id="19" name="Text 17"/>
          <p:cNvSpPr/>
          <p:nvPr/>
        </p:nvSpPr>
        <p:spPr>
          <a:xfrm>
            <a:off x="8110728" y="3703320"/>
            <a:ext cx="2157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Services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Request, decision, booking updates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377440" y="2080260"/>
            <a:ext cx="502920" cy="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77440" y="3131820"/>
            <a:ext cx="502920" cy="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09160" y="2080260"/>
            <a:ext cx="502920" cy="25146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9160" y="3131820"/>
            <a:ext cx="502920" cy="-25146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2103120"/>
            <a:ext cx="502920" cy="-29718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2606040"/>
            <a:ext cx="502920" cy="38862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3108960"/>
            <a:ext cx="502920" cy="1074420"/>
          </a:xfrm>
          <a:prstGeom prst="line">
            <a:avLst/>
          </a:prstGeom>
          <a:noFill/>
          <a:ln w="25400">
            <a:solidFill>
              <a:srgbClr val="C9C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accommodation booking capability is the system in scope. Internal containers and implementation choices are deferred to the architecture views.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CONTEXT AND UNDERSTANDING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first-release boundary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18608" cy="4206240"/>
          </a:xfrm>
          <a:prstGeom prst="roundRect">
            <a:avLst>
              <a:gd name="adj" fmla="val 2174"/>
            </a:avLst>
          </a:prstGeom>
          <a:solidFill>
            <a:srgbClr val="DDF2E9"/>
          </a:solidFill>
          <a:ln/>
        </p:spPr>
      </p:sp>
      <p:sp>
        <p:nvSpPr>
          <p:cNvPr id="5" name="Shape 3"/>
          <p:cNvSpPr/>
          <p:nvPr/>
        </p:nvSpPr>
        <p:spPr>
          <a:xfrm>
            <a:off x="754380" y="1805940"/>
            <a:ext cx="502920" cy="502920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6" name="Image 0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37" y="1919097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28800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46888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852928"/>
            <a:ext cx="467852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Destination/site selection and search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List, filter, and map views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result and explanation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submission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queue and decision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Operator-triggered booking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Confirmation, administration, notifications, and audit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24448" y="1600200"/>
            <a:ext cx="5318608" cy="4206240"/>
          </a:xfrm>
          <a:prstGeom prst="roundRect">
            <a:avLst>
              <a:gd name="adj" fmla="val 2174"/>
            </a:avLst>
          </a:prstGeom>
          <a:solidFill>
            <a:srgbClr val="FBDADD"/>
          </a:solidFill>
          <a:ln/>
        </p:spPr>
      </p:sp>
      <p:sp>
        <p:nvSpPr>
          <p:cNvPr id="11" name="Shape 8"/>
          <p:cNvSpPr/>
          <p:nvPr/>
        </p:nvSpPr>
        <p:spPr>
          <a:xfrm>
            <a:off x="6530188" y="1805940"/>
            <a:ext cx="502920" cy="5029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12" name="Image 1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345" y="1919097"/>
            <a:ext cx="276606" cy="27660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47408" y="1828800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ASSUMED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644488" y="246888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644488" y="2852928"/>
            <a:ext cx="467852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self-booking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 or ground transport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or multi-city travel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suppliers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modification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finance reconciliation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" name="Image 0" descr="/Users/mohit.kanwar_1/projects/Accomodation-Booking-Solution/deck/assets/icons/help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Discovery Questions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and product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842955" y="571500"/>
            <a:ext cx="685800" cy="6858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5" name="Image 0" descr="/Users/mohit.kanwar_1/projects/Accomodation-Booking-Solution/deck/assets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4405" y="7429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business outcome and measurable success justify the feature?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supports the accommodation queries — Sodexo, Booking.com, or the accommodation provider?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requester always the traveller, or can someone act on their behalf?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employees submit out-of-policy options, and who approves exceptions?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employee experience, operator service level, and post-booking support?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countries, sites, languages, and currencies are required first?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price calculated — taxes, fees, currency conversion, discounts?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white-labelling Booking.com’s services acceptable?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842955" y="571500"/>
            <a:ext cx="685800" cy="6858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" name="Image 0" descr="/Users/mohit.kanwar_1/projects/Accomodation-Booking-Solution/deck/assets/icons/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4405" y="7429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price cap include taxes and mandatory fees?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 per room, per traveller, average night, highest night, or total stay?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foreign currencies converted, and which FX source is approved?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distance, category, breakfast, cancellation, weekend, and max-stay rules mandatory?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price change after approval requires renewed consent?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policies versioned, dated, overridden, and audited?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Booking, payment, and operations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842955" y="571500"/>
            <a:ext cx="685800" cy="685800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5" name="Image 0" descr="/Users/mohit.kanwar_1/projects/Accomodation-Booking-Solution/deck/assets/icons/dollar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4405" y="7429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the Booking.com affiliate partner and account owner?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search-look-book enabled contractually for this application?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merchant of record, and who pays — Sodexo, Tetrapak, operator, employee, or hotel?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invoices, refunds, chargebacks, reconciliation, no-shows, and disputes?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an operator do when a booking call times out?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employees cancel, or must all servicing go through an operator?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Platform, data, and security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842955" y="571500"/>
            <a:ext cx="685800" cy="685800"/>
          </a:xfrm>
          <a:prstGeom prst="ellipse">
            <a:avLst/>
          </a:prstGeom>
          <a:solidFill>
            <a:srgbClr val="202A78"/>
          </a:solidFill>
          <a:ln/>
        </p:spPr>
      </p:sp>
      <p:pic>
        <p:nvPicPr>
          <p:cNvPr id="5" name="Image 0" descr="/Users/mohit.kanwar_1/projects/Accomodation-Booking-Solution/deck/assets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4405" y="7429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trusted claims does the existing B2C authentication provide?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owns employee role, cost centre, client, and manager?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operator/admin host applications and platform services can be reused?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travel and traveller data may be stored, for how long, and in which region?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volumes, peak searches, booking conversion, and service levels apply?</a:t>
            </a:r>
            <a:endParaRPr lang="en-US" sz="1450" dirty="0"/>
          </a:p>
          <a:p>
            <a:pPr marL="203200" indent="-2032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notification, map, audit, observability, and secret services are standard?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DISCOVERY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that block readiness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202A7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7766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314731" y="1737360"/>
            <a:ext cx="30540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4415" cy="777240"/>
          </a:xfrm>
          <a:prstGeom prst="rect">
            <a:avLst/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28600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commercial / API eligibility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247373" y="247345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10" name="Text 8"/>
          <p:cNvSpPr/>
          <p:nvPr/>
        </p:nvSpPr>
        <p:spPr>
          <a:xfrm>
            <a:off x="9247373" y="24734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11094415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6324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and merchant-of-record model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247373" y="325069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14" name="Text 12"/>
          <p:cNvSpPr/>
          <p:nvPr/>
        </p:nvSpPr>
        <p:spPr>
          <a:xfrm>
            <a:off x="9247373" y="325069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11094415" cy="777240"/>
          </a:xfrm>
          <a:prstGeom prst="rect">
            <a:avLst/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4048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policy calculation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247373" y="402793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18" name="Text 16"/>
          <p:cNvSpPr/>
          <p:nvPr/>
        </p:nvSpPr>
        <p:spPr>
          <a:xfrm>
            <a:off x="9247373" y="40279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94415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61772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employee-role source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247373" y="480517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22" name="Text 20"/>
          <p:cNvSpPr/>
          <p:nvPr/>
        </p:nvSpPr>
        <p:spPr>
          <a:xfrm>
            <a:off x="9247373" y="480517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4415" cy="777240"/>
          </a:xfrm>
          <a:prstGeom prst="rect">
            <a:avLst/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394960"/>
            <a:ext cx="749177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and support ownership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247373" y="55824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4DD"/>
          </a:solidFill>
          <a:ln/>
        </p:spPr>
      </p:sp>
      <p:sp>
        <p:nvSpPr>
          <p:cNvPr id="26" name="Text 24"/>
          <p:cNvSpPr/>
          <p:nvPr/>
        </p:nvSpPr>
        <p:spPr>
          <a:xfrm>
            <a:off x="9247373" y="55824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" name="Image 0" descr="/Users/mohit.kanwar_1/projects/Accomodation-Booking-Solution/deck/assets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 Data Model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INITIAL 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Conceptual B2C-side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discovery-stage model for the platform — it does not prescribe a database technology or duplicate authoritative employee data.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18608" cy="4160520"/>
          </a:xfrm>
          <a:prstGeom prst="roundRect">
            <a:avLst>
              <a:gd name="adj" fmla="val 2198"/>
            </a:avLst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" y="2171700"/>
            <a:ext cx="502920" cy="50292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7" name="Image 0" descr="/Users/mohit.kanwar_1/projects/Accomodation-Booking-Solution/deck/assets/icons/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29743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76272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&amp; identity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14400" y="288036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288036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14400" y="347472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47472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Travel Profile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14400" y="406908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406908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Level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14400" y="466344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6344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Site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14400" y="525780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B379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525780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Policy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324448" y="1965960"/>
            <a:ext cx="5318608" cy="4160520"/>
          </a:xfrm>
          <a:prstGeom prst="roundRect">
            <a:avLst>
              <a:gd name="adj" fmla="val 2198"/>
            </a:avLst>
          </a:prstGeom>
          <a:solidFill>
            <a:srgbClr val="F5F6FC"/>
          </a:solidFill>
          <a:ln/>
        </p:spPr>
      </p:sp>
      <p:sp>
        <p:nvSpPr>
          <p:cNvPr id="20" name="Shape 17"/>
          <p:cNvSpPr/>
          <p:nvPr/>
        </p:nvSpPr>
        <p:spPr>
          <a:xfrm>
            <a:off x="6575908" y="2171700"/>
            <a:ext cx="502920" cy="5029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21" name="Image 1" descr="/Users/mohit.kanwar_1/projects/Accomodation-Booking-Solution/deck/assets/icons/gitBra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638" y="2297430"/>
            <a:ext cx="251460" cy="2514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193128" y="2176272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&amp; booking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690208" y="288036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690208" y="288036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Request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690208" y="347472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690208" y="347472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690208" y="406908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690208" y="406908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Booking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6690208" y="466344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690208" y="466344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Event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6690208" y="5257800"/>
            <a:ext cx="4587088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690208" y="5257800"/>
            <a:ext cx="458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Event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INITIAL 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model catalogue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domain models across six bounded contexts — see the Domain Models page for full detail.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92938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B379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7452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&amp; Organisation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13232" y="228600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CorporateClient   ·   CorporateLocations   ·   CorporateUserRoles   ·   CorporateApprovalPolicy   ·   CorporatePriceRange   ·   ApproverAssignment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53458" y="178308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18050" y="192938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ED1C24"/>
          </a:solidFill>
          <a:ln/>
        </p:spPr>
      </p:sp>
      <p:sp>
        <p:nvSpPr>
          <p:cNvPr id="11" name="Text 9"/>
          <p:cNvSpPr/>
          <p:nvPr/>
        </p:nvSpPr>
        <p:spPr>
          <a:xfrm>
            <a:off x="4810658" y="187452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Traveller, Request &amp; Approval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18050" y="228600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TravellerDetails   ·   AccommodationRequest   ·   OfferSnapshot   ·   PolicySnapshot   ·   ClarificationThread   ·   ApprovalDecision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58277" y="178308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2869" y="192938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187A5A"/>
          </a:solidFill>
          <a:ln/>
        </p:spPr>
      </p:sp>
      <p:sp>
        <p:nvSpPr>
          <p:cNvPr id="15" name="Text 13"/>
          <p:cNvSpPr/>
          <p:nvPr/>
        </p:nvSpPr>
        <p:spPr>
          <a:xfrm>
            <a:off x="8615477" y="187452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&amp; Supplier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22869" y="228600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SupplierBooking   ·   BookingChangeRequest   ·   IdempotencyRecord   ·   SupplierCorporation   ·   SupplierIntegrationConfig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407822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9A5A00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02336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13232" y="443484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  ·   BillValidation   ·   PaymentInstruction   ·   ReconciliationException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22" name="Shape 20"/>
          <p:cNvSpPr/>
          <p:nvPr/>
        </p:nvSpPr>
        <p:spPr>
          <a:xfrm>
            <a:off x="4518050" y="407822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02A78"/>
          </a:solidFill>
          <a:ln/>
        </p:spPr>
      </p:sp>
      <p:sp>
        <p:nvSpPr>
          <p:cNvPr id="23" name="Text 21"/>
          <p:cNvSpPr/>
          <p:nvPr/>
        </p:nvSpPr>
        <p:spPr>
          <a:xfrm>
            <a:off x="4810658" y="402336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Administration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18050" y="443484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PlatformAccessGrant   ·   SupportCase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58277" y="393192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8322869" y="407822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5F6685"/>
          </a:solidFill>
          <a:ln/>
        </p:spPr>
      </p:sp>
      <p:sp>
        <p:nvSpPr>
          <p:cNvPr id="27" name="Text 25"/>
          <p:cNvSpPr/>
          <p:nvPr/>
        </p:nvSpPr>
        <p:spPr>
          <a:xfrm>
            <a:off x="8615477" y="4023360"/>
            <a:ext cx="2890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Evidence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322869" y="4434840"/>
            <a:ext cx="315559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AuditEvent   ·   OutboxEvent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" name="Image 0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API Flow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HIGH-LEVEL API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Search, request, and book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calls Booking.com directly — every supplier call is server-side, through a controlled adapter.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54298" cy="393192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1932889" y="2171700"/>
            <a:ext cx="685800" cy="6858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7" name="Image 0" descr="/Users/mohit.kanwar_1/projects/Accomodation-Booking-Solution/deck/assets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339" y="2343150"/>
            <a:ext cx="342900" cy="342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97180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Load and search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3429000"/>
            <a:ext cx="29056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client and role context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Booking.com through the adapter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policy for each proposal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proposals with price and explanation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30370" y="3794760"/>
            <a:ext cx="310896" cy="274320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1" name="Shape 8"/>
          <p:cNvSpPr/>
          <p:nvPr/>
        </p:nvSpPr>
        <p:spPr>
          <a:xfrm>
            <a:off x="4368698" y="1965960"/>
            <a:ext cx="3454298" cy="393192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5752948" y="2171700"/>
            <a:ext cx="685800" cy="6858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13" name="Image 1" descr="/Users/mohit.kanwar_1/projects/Accomodation-Booking-Solution/deck/assets/icons/user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398" y="2343150"/>
            <a:ext cx="342900" cy="3429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51578" y="297180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Request and decision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43018" y="3429000"/>
            <a:ext cx="29056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offer and policy; snapshot both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operator via the outbox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approves, rejects, or clarifies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the decision and audit event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50429" y="3794760"/>
            <a:ext cx="310896" cy="274320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7" name="Shape 13"/>
          <p:cNvSpPr/>
          <p:nvPr/>
        </p:nvSpPr>
        <p:spPr>
          <a:xfrm>
            <a:off x="8188757" y="1965960"/>
            <a:ext cx="3454298" cy="3931920"/>
          </a:xfrm>
          <a:prstGeom prst="roundRect">
            <a:avLst>
              <a:gd name="adj" fmla="val 2647"/>
            </a:avLst>
          </a:prstGeom>
          <a:solidFill>
            <a:srgbClr val="F5F6FC"/>
          </a:solidFill>
          <a:ln/>
        </p:spPr>
      </p:sp>
      <p:sp>
        <p:nvSpPr>
          <p:cNvPr id="18" name="Shape 14"/>
          <p:cNvSpPr/>
          <p:nvPr/>
        </p:nvSpPr>
        <p:spPr>
          <a:xfrm>
            <a:off x="9573006" y="2171700"/>
            <a:ext cx="685800" cy="685800"/>
          </a:xfrm>
          <a:prstGeom prst="ellipse">
            <a:avLst/>
          </a:prstGeom>
          <a:solidFill>
            <a:srgbClr val="187A5A"/>
          </a:solidFill>
          <a:ln/>
        </p:spPr>
      </p:sp>
      <p:pic>
        <p:nvPicPr>
          <p:cNvPr id="19" name="Image 2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4456" y="2343150"/>
            <a:ext cx="342900" cy="3429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71637" y="297180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Create the reservation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63077" y="3429000"/>
            <a:ext cx="29056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availability and final price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for renewed approval if changed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order with a preview token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the confirmation and notify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HIGH-LEVEL API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Booking.com integration principles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99284" cy="3566160"/>
          </a:xfrm>
          <a:prstGeom prst="roundRect">
            <a:avLst>
              <a:gd name="adj" fmla="val 2927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21259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993392"/>
            <a:ext cx="1630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only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514600"/>
            <a:ext cx="195064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token and affiliate ID live in secret management — never in the browser.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13684" y="1828800"/>
            <a:ext cx="2499284" cy="3566160"/>
          </a:xfrm>
          <a:prstGeom prst="roundRect">
            <a:avLst>
              <a:gd name="adj" fmla="val 2927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50844" y="2011680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11" name="Image 1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144" y="212598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99484" y="1993392"/>
            <a:ext cx="1630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Revalidate volatile data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688004" y="2514600"/>
            <a:ext cx="195064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Availability, price, and cancellation terms are rechecked before booking.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78728" y="1828800"/>
            <a:ext cx="2499284" cy="3566160"/>
          </a:xfrm>
          <a:prstGeom prst="roundRect">
            <a:avLst>
              <a:gd name="adj" fmla="val 2927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15888" y="2011680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6" name="Image 2" descr="/Users/mohit.kanwar_1/projects/Accomodation-Booking-Solution/deck/assets/icons/z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188" y="212598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4528" y="1993392"/>
            <a:ext cx="1630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booking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553048" y="2514600"/>
            <a:ext cx="195064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retried or timed-out command can never create a duplicate reservation.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143771" y="1828800"/>
            <a:ext cx="2499284" cy="3566160"/>
          </a:xfrm>
          <a:prstGeom prst="roundRect">
            <a:avLst>
              <a:gd name="adj" fmla="val 2927"/>
            </a:avLst>
          </a:prstGeom>
          <a:solidFill>
            <a:srgbClr val="F5F6FC"/>
          </a:solidFill>
          <a:ln/>
          <a:effectLst>
            <a:outerShdw sx="100000" sy="100000" kx="0" ky="0" algn="bl" rotWithShape="0" blurRad="76200" dist="25400" dir="5400000">
              <a:srgbClr val="9AA5D9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80931" y="2011680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21" name="Image 3" descr="/Users/mohit.kanwar_1/projects/Accomodation-Booking-Solution/deck/assets/icons/lay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5231" y="212598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829571" y="1993392"/>
            <a:ext cx="16306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Anti-corruption layer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418091" y="2514600"/>
            <a:ext cx="195064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schemas and versions stay isolated from the domain model.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5577840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FFF4DD"/>
          </a:solidFill>
          <a:ln/>
        </p:spPr>
      </p:sp>
      <p:sp>
        <p:nvSpPr>
          <p:cNvPr id="25" name="Text 19"/>
          <p:cNvSpPr/>
          <p:nvPr/>
        </p:nvSpPr>
        <p:spPr>
          <a:xfrm>
            <a:off x="777240" y="557784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Booking.com’s preview order token is time-limited — preview and create belong in the controlled booking step, not at initial selection.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" name="Image 0" descr="/Users/mohit.kanwar_1/projects/Accomodation-Booking-Solution/deck/assets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Principles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ARCHITECTURE PRINCIPLES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principles, independent of technology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12648" y="1700784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5" name="Image 0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796796"/>
            <a:ext cx="192024" cy="1920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581912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supplier integration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credentials, prevents rule bypass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342736" y="1700784"/>
            <a:ext cx="384048" cy="384048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8" name="Image 1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748" y="1796796"/>
            <a:ext cx="192024" cy="1920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27368" y="1581912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identity and tenant context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cannot depend on browser data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12648" y="2596896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1" name="Image 2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2692908"/>
            <a:ext cx="192024" cy="19202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97280" y="2478024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as versioned domain logic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auditable, time-bound caps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42736" y="2596896"/>
            <a:ext cx="384048" cy="384048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14" name="Image 3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748" y="2692908"/>
            <a:ext cx="192024" cy="19202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27368" y="2478024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before reservation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intent, approval, attempt, confirmation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612648" y="3493008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7" name="Image 4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3589020"/>
            <a:ext cx="192024" cy="19202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97280" y="3374136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anti-corruption layer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domain from Booking.com’s schemas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6342736" y="3493008"/>
            <a:ext cx="384048" cy="384048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20" name="Image 5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8748" y="3589020"/>
            <a:ext cx="192024" cy="192024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827368" y="3374136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Revalidate volatile data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availability, and terms may change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612648" y="4389120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3" name="Image 6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" y="4485132"/>
            <a:ext cx="192024" cy="192024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097280" y="4270248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Idempotent, recoverable booking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never silently duplicate reservations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6342736" y="4389120"/>
            <a:ext cx="384048" cy="384048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26" name="Image 7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748" y="4485132"/>
            <a:ext cx="192024" cy="192024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827368" y="4270248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by design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change needs evidence</a:t>
            </a:r>
            <a:endParaRPr lang="en-US" sz="1250" dirty="0"/>
          </a:p>
        </p:txBody>
      </p:sp>
      <p:sp>
        <p:nvSpPr>
          <p:cNvPr id="28" name="Shape 18"/>
          <p:cNvSpPr/>
          <p:nvPr/>
        </p:nvSpPr>
        <p:spPr>
          <a:xfrm>
            <a:off x="612648" y="5285232"/>
            <a:ext cx="384048" cy="384048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9" name="Image 8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" y="5381244"/>
            <a:ext cx="192024" cy="192024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1097280" y="5166360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least privilege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 and control sensitive data access</a:t>
            </a:r>
            <a:endParaRPr lang="en-US" sz="1250" dirty="0"/>
          </a:p>
        </p:txBody>
      </p:sp>
      <p:sp>
        <p:nvSpPr>
          <p:cNvPr id="31" name="Shape 20"/>
          <p:cNvSpPr/>
          <p:nvPr/>
        </p:nvSpPr>
        <p:spPr>
          <a:xfrm>
            <a:off x="6342736" y="5285232"/>
            <a:ext cx="384048" cy="384048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32" name="Image 9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48" y="5381244"/>
            <a:ext cx="192024" cy="192024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827368" y="5166360"/>
            <a:ext cx="4815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operations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Correlation, ageing, failure, reconciliation visibility</a:t>
            </a:r>
            <a:endParaRPr lang="en-US" sz="1250" dirty="0"/>
          </a:p>
        </p:txBody>
      </p:sp>
      <p:sp>
        <p:nvSpPr>
          <p:cNvPr id="3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5" name="Text 2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ARCHITECTURE PRINCIPLES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 &amp; targets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2B379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256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238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&amp; operator uptime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90824" y="15544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202A78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27632"/>
            <a:ext cx="256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82264" y="2148840"/>
            <a:ext cx="238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capability uptime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33008" y="15544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2B3797"/>
          </a:solidFill>
          <a:ln/>
        </p:spPr>
      </p:sp>
      <p:sp>
        <p:nvSpPr>
          <p:cNvPr id="11" name="Text 9"/>
          <p:cNvSpPr/>
          <p:nvPr/>
        </p:nvSpPr>
        <p:spPr>
          <a:xfrm>
            <a:off x="6233008" y="1627632"/>
            <a:ext cx="256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&lt;200ms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324448" y="2148840"/>
            <a:ext cx="238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evaluation, p95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075191" y="1554480"/>
            <a:ext cx="2567864" cy="1051560"/>
          </a:xfrm>
          <a:prstGeom prst="roundRect">
            <a:avLst>
              <a:gd name="adj" fmla="val 6957"/>
            </a:avLst>
          </a:prstGeom>
          <a:solidFill>
            <a:srgbClr val="202A78"/>
          </a:solidFill>
          <a:ln/>
        </p:spPr>
      </p:sp>
      <p:sp>
        <p:nvSpPr>
          <p:cNvPr id="14" name="Text 12"/>
          <p:cNvSpPr/>
          <p:nvPr/>
        </p:nvSpPr>
        <p:spPr>
          <a:xfrm>
            <a:off x="9075191" y="1627632"/>
            <a:ext cx="256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&lt;2s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166631" y="2148840"/>
            <a:ext cx="238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submission, p95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9325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8" name="Image 0" descr="/Users/mohit.kanwar_1/projects/Accomodation-Booking-Solution/deck/assets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3625" y="3241548"/>
            <a:ext cx="228600" cy="228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03504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435809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21" name="Shape 18"/>
          <p:cNvSpPr/>
          <p:nvPr/>
        </p:nvSpPr>
        <p:spPr>
          <a:xfrm>
            <a:off x="3036494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2" name="Image 1" descr="/Users/mohit.kanwar_1/projects/Accomodation-Booking-Solution/deck/assets/icons/refreshC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794" y="3241548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2490673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322978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25" name="Shape 21"/>
          <p:cNvSpPr/>
          <p:nvPr/>
        </p:nvSpPr>
        <p:spPr>
          <a:xfrm>
            <a:off x="4923663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6" name="Image 2" descr="/Users/mohit.kanwar_1/projects/Accomodation-Booking-Solution/deck/assets/icons/bar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7963" y="3241548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377842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210148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29" name="Shape 24"/>
          <p:cNvSpPr/>
          <p:nvPr/>
        </p:nvSpPr>
        <p:spPr>
          <a:xfrm>
            <a:off x="6810832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0" name="Image 3" descr="/Users/mohit.kanwar_1/projects/Accomodation-Booking-Solution/deck/assets/icon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5132" y="3241548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265012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097317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33" name="Shape 27"/>
          <p:cNvSpPr/>
          <p:nvPr/>
        </p:nvSpPr>
        <p:spPr>
          <a:xfrm>
            <a:off x="8698001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4" name="Image 4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2301" y="3241548"/>
            <a:ext cx="228600" cy="22860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152181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9984486" y="297180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37" name="Shape 30"/>
          <p:cNvSpPr/>
          <p:nvPr/>
        </p:nvSpPr>
        <p:spPr>
          <a:xfrm>
            <a:off x="10585171" y="3127248"/>
            <a:ext cx="457200" cy="45720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8" name="Image 5" descr="/Users/mohit.kanwar_1/projects/Accomodation-Booking-Solution/deck/assets/icons/lay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99471" y="3241548"/>
            <a:ext cx="228600" cy="22860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10039350" y="368503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548640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41" name="Shape 33"/>
          <p:cNvSpPr/>
          <p:nvPr/>
        </p:nvSpPr>
        <p:spPr>
          <a:xfrm>
            <a:off x="1149325" y="4544568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42" name="Image 6" descr="/Users/mohit.kanwar_1/projects/Accomodation-Booking-Solution/deck/assets/icons/lin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3625" y="4658868"/>
            <a:ext cx="228600" cy="22860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603504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Interoperability</a:t>
            </a:r>
            <a:endParaRPr lang="en-US" sz="1000" dirty="0"/>
          </a:p>
        </p:txBody>
      </p:sp>
      <p:sp>
        <p:nvSpPr>
          <p:cNvPr id="44" name="Shape 35"/>
          <p:cNvSpPr/>
          <p:nvPr/>
        </p:nvSpPr>
        <p:spPr>
          <a:xfrm>
            <a:off x="2435809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45" name="Shape 36"/>
          <p:cNvSpPr/>
          <p:nvPr/>
        </p:nvSpPr>
        <p:spPr>
          <a:xfrm>
            <a:off x="3036494" y="4544568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46" name="Image 7" descr="/Users/mohit.kanwar_1/projects/Accomodation-Booking-Solution/deck/assets/icons/dollarSig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0794" y="4658868"/>
            <a:ext cx="228600" cy="228600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2490673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Efficiency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4322978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49" name="Shape 39"/>
          <p:cNvSpPr/>
          <p:nvPr/>
        </p:nvSpPr>
        <p:spPr>
          <a:xfrm>
            <a:off x="4923663" y="4544568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0" name="Image 8" descr="/Users/mohit.kanwar_1/projects/Accomodation-Booking-Solution/deck/assets/icons/clo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37963" y="4658868"/>
            <a:ext cx="228600" cy="228600"/>
          </a:xfrm>
          <a:prstGeom prst="rect">
            <a:avLst/>
          </a:prstGeom>
        </p:spPr>
      </p:pic>
      <p:sp>
        <p:nvSpPr>
          <p:cNvPr id="51" name="Text 40"/>
          <p:cNvSpPr/>
          <p:nvPr/>
        </p:nvSpPr>
        <p:spPr>
          <a:xfrm>
            <a:off x="4377842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6210148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53" name="Shape 42"/>
          <p:cNvSpPr/>
          <p:nvPr/>
        </p:nvSpPr>
        <p:spPr>
          <a:xfrm>
            <a:off x="6810832" y="4544568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4" name="Image 9" descr="/Users/mohit.kanwar_1/projects/Accomodation-Booking-Solution/deck/assets/icons/za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5132" y="4658868"/>
            <a:ext cx="228600" cy="228600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6265012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56" name="Shape 44"/>
          <p:cNvSpPr/>
          <p:nvPr/>
        </p:nvSpPr>
        <p:spPr>
          <a:xfrm>
            <a:off x="8097317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57" name="Shape 45"/>
          <p:cNvSpPr/>
          <p:nvPr/>
        </p:nvSpPr>
        <p:spPr>
          <a:xfrm>
            <a:off x="8698001" y="4544568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8" name="Image 10" descr="/Users/mohit.kanwar_1/projects/Accomodation-Booking-Solution/deck/assets/icons/hom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12301" y="4658868"/>
            <a:ext cx="228600" cy="228600"/>
          </a:xfrm>
          <a:prstGeom prst="rect">
            <a:avLst/>
          </a:prstGeom>
        </p:spPr>
      </p:pic>
      <p:sp>
        <p:nvSpPr>
          <p:cNvPr id="59" name="Text 46"/>
          <p:cNvSpPr/>
          <p:nvPr/>
        </p:nvSpPr>
        <p:spPr>
          <a:xfrm>
            <a:off x="8152181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000" dirty="0"/>
          </a:p>
        </p:txBody>
      </p:sp>
      <p:sp>
        <p:nvSpPr>
          <p:cNvPr id="60" name="Shape 47"/>
          <p:cNvSpPr/>
          <p:nvPr/>
        </p:nvSpPr>
        <p:spPr>
          <a:xfrm>
            <a:off x="9984486" y="4389120"/>
            <a:ext cx="1658569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</p:sp>
      <p:sp>
        <p:nvSpPr>
          <p:cNvPr id="61" name="Shape 48"/>
          <p:cNvSpPr/>
          <p:nvPr/>
        </p:nvSpPr>
        <p:spPr>
          <a:xfrm>
            <a:off x="10585171" y="4544568"/>
            <a:ext cx="457200" cy="45720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62" name="Image 11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99471" y="4658868"/>
            <a:ext cx="228600" cy="228600"/>
          </a:xfrm>
          <a:prstGeom prst="rect">
            <a:avLst/>
          </a:prstGeom>
        </p:spPr>
      </p:pic>
      <p:sp>
        <p:nvSpPr>
          <p:cNvPr id="63" name="Text 49"/>
          <p:cNvSpPr/>
          <p:nvPr/>
        </p:nvSpPr>
        <p:spPr>
          <a:xfrm>
            <a:off x="10039350" y="5102352"/>
            <a:ext cx="1548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Recovery</a:t>
            </a:r>
            <a:endParaRPr lang="en-US" sz="1000" dirty="0"/>
          </a:p>
        </p:txBody>
      </p:sp>
      <p:sp>
        <p:nvSpPr>
          <p:cNvPr id="64" name="Text 5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65" name="Text 5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" name="Image 0" descr="/Users/mohit.kanwar_1/projects/Accomodation-Booking-Solution/deck/assets/icons/trending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Workshops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NEXT STEPS AND WORKSHOPS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discovery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7465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21488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 and scope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" y="25877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Sponsor, product, operations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38218" y="16002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02810" y="17465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ED1C24"/>
          </a:solidFill>
          <a:ln/>
        </p:spPr>
      </p:sp>
      <p:sp>
        <p:nvSpPr>
          <p:cNvPr id="11" name="Text 9"/>
          <p:cNvSpPr/>
          <p:nvPr/>
        </p:nvSpPr>
        <p:spPr>
          <a:xfrm>
            <a:off x="4502810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02810" y="21488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and operator journey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02810" y="25877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UX, operators, support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27797" y="16002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292389" y="17465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16" name="Text 14"/>
          <p:cNvSpPr/>
          <p:nvPr/>
        </p:nvSpPr>
        <p:spPr>
          <a:xfrm>
            <a:off x="8292389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92389" y="21488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and entitlement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92389" y="25877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policy owners, finance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2004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3467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ED1C24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37490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and operating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13232" y="41879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Finance, procurement, legal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38218" y="32004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02810" y="33467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26" name="Text 24"/>
          <p:cNvSpPr/>
          <p:nvPr/>
        </p:nvSpPr>
        <p:spPr>
          <a:xfrm>
            <a:off x="450281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02810" y="37490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capability validation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2810" y="41879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Procurement, architects, engineers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127797" y="32004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30" name="Shape 28"/>
          <p:cNvSpPr/>
          <p:nvPr/>
        </p:nvSpPr>
        <p:spPr>
          <a:xfrm>
            <a:off x="8292389" y="33467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ED1C24"/>
          </a:solidFill>
          <a:ln/>
        </p:spPr>
      </p:sp>
      <p:sp>
        <p:nvSpPr>
          <p:cNvPr id="31" name="Text 29"/>
          <p:cNvSpPr/>
          <p:nvPr/>
        </p:nvSpPr>
        <p:spPr>
          <a:xfrm>
            <a:off x="8292389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92389" y="37490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data, security &amp; privacy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92389" y="41879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IAM, security, privacy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48006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35" name="Shape 33"/>
          <p:cNvSpPr/>
          <p:nvPr/>
        </p:nvSpPr>
        <p:spPr>
          <a:xfrm>
            <a:off x="713232" y="49469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36" name="Text 34"/>
          <p:cNvSpPr/>
          <p:nvPr/>
        </p:nvSpPr>
        <p:spPr>
          <a:xfrm>
            <a:off x="713232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3232" y="53492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spike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13232" y="57881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and integration engineers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38218" y="48006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40" name="Shape 38"/>
          <p:cNvSpPr/>
          <p:nvPr/>
        </p:nvSpPr>
        <p:spPr>
          <a:xfrm>
            <a:off x="4502810" y="49469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ED1C24"/>
          </a:solidFill>
          <a:ln/>
        </p:spPr>
      </p:sp>
      <p:sp>
        <p:nvSpPr>
          <p:cNvPr id="41" name="Text 39"/>
          <p:cNvSpPr/>
          <p:nvPr/>
        </p:nvSpPr>
        <p:spPr>
          <a:xfrm>
            <a:off x="450281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02810" y="53492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 &amp; operational readiness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02810" y="57881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SRE, support, security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27797" y="480060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F5F6FC"/>
          </a:solidFill>
          <a:ln/>
        </p:spPr>
      </p:sp>
      <p:sp>
        <p:nvSpPr>
          <p:cNvPr id="45" name="Shape 43"/>
          <p:cNvSpPr/>
          <p:nvPr/>
        </p:nvSpPr>
        <p:spPr>
          <a:xfrm>
            <a:off x="8292389" y="494690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2B3797"/>
          </a:solidFill>
          <a:ln/>
        </p:spPr>
      </p:sp>
      <p:sp>
        <p:nvSpPr>
          <p:cNvPr id="46" name="Text 44"/>
          <p:cNvSpPr/>
          <p:nvPr/>
        </p:nvSpPr>
        <p:spPr>
          <a:xfrm>
            <a:off x="8292389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92389" y="53492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planning and estimation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292389" y="5788152"/>
            <a:ext cx="3186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architecture, delivery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NEXT STEPS AND WORKSHOPS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0 readiness gates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delivery planning only when: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5216" y="1947672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6" name="Image 0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" y="2043684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9202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 affiliate eligibility and required API capabilities are confirmed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5216" y="2551176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9" name="Image 1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" y="2647188"/>
            <a:ext cx="192024" cy="1920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252374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and merchant-of-record model is approved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85216" y="3154680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12" name="Image 2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" y="3250692"/>
            <a:ext cx="192024" cy="1920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312724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role and client context have an authoritative source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85216" y="3758184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15" name="Image 3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" y="3854196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97280" y="3730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calculations and exception ownership are unambiguous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85216" y="4361688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18" name="Image 4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" y="4457700"/>
            <a:ext cx="192024" cy="19202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97280" y="43342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operator/support model and reconciliation ownership are accepted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585216" y="4965192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21" name="Image 5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" y="5061204"/>
            <a:ext cx="192024" cy="19202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97280" y="49377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Privacy, security, data-retention, and commercial constraints are recorded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585216" y="5568696"/>
            <a:ext cx="384048" cy="384048"/>
          </a:xfrm>
          <a:prstGeom prst="ellipse">
            <a:avLst/>
          </a:prstGeom>
          <a:solidFill>
            <a:srgbClr val="9A5A00"/>
          </a:solidFill>
          <a:ln/>
        </p:spPr>
      </p:sp>
      <p:pic>
        <p:nvPicPr>
          <p:cNvPr id="24" name="Image 6" descr="/Users/mohit.kanwar_1/projects/Accomodation-Booking-Solution/deck/assets/icons/alertTriang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" y="5664708"/>
            <a:ext cx="192024" cy="192024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1097280" y="55412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sandbox spike proves the critical search and booking path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NEXT STEPS AND WORKSHOPS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Suggested delivery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5F6F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0312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25269" y="2560320"/>
            <a:ext cx="640080" cy="64008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7" name="Image 0" descr="/Users/mohit.kanwar_1/projects/Accomodation-Booking-Solution/deck/assets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289" y="27203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337560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request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3886200"/>
            <a:ext cx="2753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demand, policy, operator queue, and manual completion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15130" y="3429000"/>
            <a:ext cx="310896" cy="274320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1" name="Shape 8"/>
          <p:cNvSpPr/>
          <p:nvPr/>
        </p:nvSpPr>
        <p:spPr>
          <a:xfrm>
            <a:off x="4399178" y="192024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5F6FC"/>
          </a:solidFill>
          <a:ln/>
        </p:spPr>
      </p:sp>
      <p:sp>
        <p:nvSpPr>
          <p:cNvPr id="12" name="Text 9"/>
          <p:cNvSpPr/>
          <p:nvPr/>
        </p:nvSpPr>
        <p:spPr>
          <a:xfrm>
            <a:off x="4627778" y="210312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775808" y="2560320"/>
            <a:ext cx="640080" cy="64008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4" name="Image 1" descr="/Users/mohit.kanwar_1/projects/Accomodation-Booking-Solution/deck/assets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828" y="272034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27778" y="3337560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operator booking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19218" y="3886200"/>
            <a:ext cx="2753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preview/create, confirmation, recovery, and reconciliation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865669" y="3429000"/>
            <a:ext cx="310896" cy="274320"/>
          </a:xfrm>
          <a:prstGeom prst="rightArrow">
            <a:avLst/>
          </a:prstGeom>
          <a:solidFill>
            <a:srgbClr val="C9CEE8"/>
          </a:solidFill>
          <a:ln/>
        </p:spPr>
      </p:sp>
      <p:sp>
        <p:nvSpPr>
          <p:cNvPr id="18" name="Shape 14"/>
          <p:cNvSpPr/>
          <p:nvPr/>
        </p:nvSpPr>
        <p:spPr>
          <a:xfrm>
            <a:off x="8249717" y="192024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5F6FC"/>
          </a:solidFill>
          <a:ln/>
        </p:spPr>
      </p:sp>
      <p:sp>
        <p:nvSpPr>
          <p:cNvPr id="19" name="Text 15"/>
          <p:cNvSpPr/>
          <p:nvPr/>
        </p:nvSpPr>
        <p:spPr>
          <a:xfrm>
            <a:off x="8478317" y="210312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626346" y="2560320"/>
            <a:ext cx="640080" cy="64008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1" name="Image 2" descr="/Users/mohit.kanwar_1/projects/Accomodation-Booking-Solution/deck/assets/icons/trending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6366" y="2720340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78317" y="3337560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Post-booking and optimisation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569757" y="3886200"/>
            <a:ext cx="2753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supported servicing, reporting, automation, future suppliers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301752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Shape 2"/>
          <p:cNvSpPr/>
          <p:nvPr/>
        </p:nvSpPr>
        <p:spPr>
          <a:xfrm>
            <a:off x="4229100" y="2519172"/>
            <a:ext cx="960120" cy="9601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" name="Image 0" descr="/Users/mohit.kanwar_1/projects/Accomodation-Booking-Solution/deck/assets/icons/message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759202"/>
            <a:ext cx="480060" cy="4800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49240" y="25146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 and Decision Recap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349240" y="3520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Q&amp;A AND DECISION 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actions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92224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6" name="Image 0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892808"/>
            <a:ext cx="164592" cy="1645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691640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Nominate business, product, and technical decision owners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180015" y="16916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404872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505456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1" name="Image 1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606040"/>
            <a:ext cx="164592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404872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Booking.com commercial/API validation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180015" y="24048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118104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49808" y="3218688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16" name="Image 2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319272"/>
            <a:ext cx="164592" cy="1645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3118104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policy and payment workshops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0180015" y="311810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831336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9808" y="3931920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1" name="Image 3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4032504"/>
            <a:ext cx="164592" cy="16459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34440" y="3831336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employee-role and destination data sources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0180015" y="383133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544568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5F6FC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49808" y="4645152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26" name="Image 4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745736"/>
            <a:ext cx="164592" cy="16459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34440" y="4544568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sandbox technical spike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0180015" y="454456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548640" y="5257800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C9CEE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749808" y="5358384"/>
            <a:ext cx="365760" cy="365760"/>
          </a:xfrm>
          <a:prstGeom prst="ellipse">
            <a:avLst/>
          </a:prstGeom>
          <a:solidFill>
            <a:srgbClr val="2B3797"/>
          </a:solidFill>
          <a:ln/>
        </p:spPr>
      </p:sp>
      <p:pic>
        <p:nvPicPr>
          <p:cNvPr id="31" name="Image 5" descr="/Users/mohit.kanwar_1/projects/Accomodation-Booking-Solution/deck/assets/icons/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458968"/>
            <a:ext cx="164592" cy="16459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234440" y="5257800"/>
            <a:ext cx="8991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MVP after readiness-gate playback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10180015" y="52578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TBD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37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3" name="Shape 1"/>
          <p:cNvSpPr/>
          <p:nvPr/>
        </p:nvSpPr>
        <p:spPr>
          <a:xfrm>
            <a:off x="8991295" y="3657600"/>
            <a:ext cx="5029200" cy="5029200"/>
          </a:xfrm>
          <a:prstGeom prst="ellipse">
            <a:avLst/>
          </a:prstGeom>
          <a:solidFill>
            <a:srgbClr val="202A78"/>
          </a:solidFill>
          <a:ln/>
        </p:spPr>
      </p:sp>
      <p:sp>
        <p:nvSpPr>
          <p:cNvPr id="4" name="Shape 2"/>
          <p:cNvSpPr/>
          <p:nvPr/>
        </p:nvSpPr>
        <p:spPr>
          <a:xfrm>
            <a:off x="5501488" y="1691640"/>
            <a:ext cx="1188720" cy="1188720"/>
          </a:xfrm>
          <a:prstGeom prst="ellipse">
            <a:avLst/>
          </a:prstGeom>
          <a:solidFill>
            <a:srgbClr val="ED1C24"/>
          </a:solidFill>
          <a:ln/>
        </p:spPr>
      </p:sp>
      <p:pic>
        <p:nvPicPr>
          <p:cNvPr id="5" name="Image 0" descr="/Users/mohit.kanwar_1/projects/Accomodation-Booking-Solution/deck/assets/icons/message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8668" y="198882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01752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0" y="47548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D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close: agreed decisions, unresolved blockers, owners, and dates.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Booking Solution · Initial Discovery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Sodexo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Accommodation Booking Solution — Initial Discovery</dc:title>
  <dc:subject>PptxGenJS Presentation</dc:subject>
  <dc:creator>Mohit Kanwar</dc:creator>
  <cp:lastModifiedBy>Mohit Kanwar</cp:lastModifiedBy>
  <cp:revision>1</cp:revision>
  <dcterms:created xsi:type="dcterms:W3CDTF">2026-07-25T19:09:18Z</dcterms:created>
  <dcterms:modified xsi:type="dcterms:W3CDTF">2026-07-25T19:09:18Z</dcterms:modified>
</cp:coreProperties>
</file>